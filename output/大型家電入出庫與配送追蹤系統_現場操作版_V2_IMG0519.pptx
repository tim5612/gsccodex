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886e52c3a04d4e" /><Relationship Type="http://schemas.openxmlformats.org/officeDocument/2006/relationships/extended-properties" Target="/docProps/app.xml" Id="R3137dde7e70544d4" /><Relationship Type="http://schemas.openxmlformats.org/officeDocument/2006/relationships/officeDocument" Target="/ppt/presentation.xml" Id="R856dfe716bc34d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073182b38f49b2"/>
  </p:sldMasterIdLst>
  <p:notesMasterIdLst>
    <p:notesMasterId xmlns:r="http://schemas.openxmlformats.org/officeDocument/2006/relationships" r:id="Rbf3ccf8df8284cf2"/>
  </p:notesMasterIdLst>
  <p:sldIdLst>
    <p:sldId xmlns:r="http://schemas.openxmlformats.org/officeDocument/2006/relationships" id="256" r:id="R0f790fc452d44f64"/>
    <p:sldId xmlns:r="http://schemas.openxmlformats.org/officeDocument/2006/relationships" id="257" r:id="R432a43cce4874426"/>
    <p:sldId xmlns:r="http://schemas.openxmlformats.org/officeDocument/2006/relationships" id="258" r:id="Ra98dd82ad6b04cd9"/>
    <p:sldId xmlns:r="http://schemas.openxmlformats.org/officeDocument/2006/relationships" id="259" r:id="Rb6e027b08e40446c"/>
    <p:sldId xmlns:r="http://schemas.openxmlformats.org/officeDocument/2006/relationships" id="260" r:id="R94eab9c349624314"/>
    <p:sldId xmlns:r="http://schemas.openxmlformats.org/officeDocument/2006/relationships" id="261" r:id="Re6f97a9d747d4808"/>
    <p:sldId xmlns:r="http://schemas.openxmlformats.org/officeDocument/2006/relationships" id="262" r:id="R3457862ab0144153"/>
    <p:sldId xmlns:r="http://schemas.openxmlformats.org/officeDocument/2006/relationships" id="263" r:id="R5b2febbf010247ad"/>
    <p:sldId xmlns:r="http://schemas.openxmlformats.org/officeDocument/2006/relationships" id="264" r:id="Re7b0e8bb65be4b13"/>
    <p:sldId xmlns:r="http://schemas.openxmlformats.org/officeDocument/2006/relationships" id="265" r:id="R404bb8d504204284"/>
    <p:sldId xmlns:r="http://schemas.openxmlformats.org/officeDocument/2006/relationships" id="266" r:id="R262e0bb46bed4daf"/>
    <p:sldId xmlns:r="http://schemas.openxmlformats.org/officeDocument/2006/relationships" id="267" r:id="R25909db1c27648a7"/>
    <p:sldId xmlns:r="http://schemas.openxmlformats.org/officeDocument/2006/relationships" id="268" r:id="Rab12a1346fa941bf"/>
    <p:sldId xmlns:r="http://schemas.openxmlformats.org/officeDocument/2006/relationships" id="269" r:id="R2ea265724b2a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23dbc6dc264286" /><Relationship Type="http://schemas.openxmlformats.org/officeDocument/2006/relationships/slideMaster" Target="/ppt/slideMasters/slideMaster1.xml" Id="Rcc073182b38f49b2" /><Relationship Type="http://schemas.openxmlformats.org/officeDocument/2006/relationships/notesMaster" Target="/ppt/notesMasters/notesMaster1.xml" Id="Rbf3ccf8df8284cf2" /><Relationship Type="http://schemas.openxmlformats.org/officeDocument/2006/relationships/presProps" Target="/ppt/presProps.xml" Id="R59475f9ee6fb4623" /><Relationship Type="http://schemas.openxmlformats.org/officeDocument/2006/relationships/tableStyles" Target="/ppt/tableStyles.xml" Id="R20f91f32452443fd" /><Relationship Type="http://schemas.openxmlformats.org/officeDocument/2006/relationships/slide" Target="/ppt/slides/slide1.xml" Id="R0f790fc452d44f64" /><Relationship Type="http://schemas.openxmlformats.org/officeDocument/2006/relationships/slide" Target="/ppt/slides/slide2.xml" Id="R432a43cce4874426" /><Relationship Type="http://schemas.openxmlformats.org/officeDocument/2006/relationships/slide" Target="/ppt/slides/slide3.xml" Id="Ra98dd82ad6b04cd9" /><Relationship Type="http://schemas.openxmlformats.org/officeDocument/2006/relationships/slide" Target="/ppt/slides/slide4.xml" Id="Rb6e027b08e40446c" /><Relationship Type="http://schemas.openxmlformats.org/officeDocument/2006/relationships/slide" Target="/ppt/slides/slide5.xml" Id="R94eab9c349624314" /><Relationship Type="http://schemas.openxmlformats.org/officeDocument/2006/relationships/slide" Target="/ppt/slides/slide6.xml" Id="Re6f97a9d747d4808" /><Relationship Type="http://schemas.openxmlformats.org/officeDocument/2006/relationships/slide" Target="/ppt/slides/slide7.xml" Id="R3457862ab0144153" /><Relationship Type="http://schemas.openxmlformats.org/officeDocument/2006/relationships/slide" Target="/ppt/slides/slide8.xml" Id="R5b2febbf010247ad" /><Relationship Type="http://schemas.openxmlformats.org/officeDocument/2006/relationships/slide" Target="/ppt/slides/slide9.xml" Id="Re7b0e8bb65be4b13" /><Relationship Type="http://schemas.openxmlformats.org/officeDocument/2006/relationships/slide" Target="/ppt/slides/slide10.xml" Id="R404bb8d504204284" /><Relationship Type="http://schemas.openxmlformats.org/officeDocument/2006/relationships/slide" Target="/ppt/slides/slide11.xml" Id="R262e0bb46bed4daf" /><Relationship Type="http://schemas.openxmlformats.org/officeDocument/2006/relationships/slide" Target="/ppt/slides/slide12.xml" Id="R25909db1c27648a7" /><Relationship Type="http://schemas.openxmlformats.org/officeDocument/2006/relationships/slide" Target="/ppt/slides/slide13.xml" Id="Rab12a1346fa941bf" /><Relationship Type="http://schemas.openxmlformats.org/officeDocument/2006/relationships/slide" Target="/ppt/slides/slide14.xml" Id="R2ea265724b2a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da02b9cabd48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015a4e3da0404e" /><Relationship Type="http://schemas.openxmlformats.org/officeDocument/2006/relationships/notesMaster" Target="/ppt/notesMasters/notesMaster1.xml" Id="R0b7832bd32344d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70257d06f644eb" /><Relationship Type="http://schemas.openxmlformats.org/officeDocument/2006/relationships/notesMaster" Target="/ppt/notesMasters/notesMaster1.xml" Id="Rbad5cc692e9a4f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fdd7aac5cd45c2" /><Relationship Type="http://schemas.openxmlformats.org/officeDocument/2006/relationships/notesMaster" Target="/ppt/notesMasters/notesMaster1.xml" Id="R315b14ba06df4a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ecf3979be04add" /><Relationship Type="http://schemas.openxmlformats.org/officeDocument/2006/relationships/notesMaster" Target="/ppt/notesMasters/notesMaster1.xml" Id="Ra0f18f1428ba43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acbc41a9ff4ab5" /><Relationship Type="http://schemas.openxmlformats.org/officeDocument/2006/relationships/notesMaster" Target="/ppt/notesMasters/notesMaster1.xml" Id="R2662a00b72a94c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2dfb809f0f4f4a" /><Relationship Type="http://schemas.openxmlformats.org/officeDocument/2006/relationships/notesMaster" Target="/ppt/notesMasters/notesMaster1.xml" Id="R295f2e3cd47e42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c2899a514b4998" /><Relationship Type="http://schemas.openxmlformats.org/officeDocument/2006/relationships/notesMaster" Target="/ppt/notesMasters/notesMaster1.xml" Id="Rd3eedf3dbd4542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878beedd6440a7" /><Relationship Type="http://schemas.openxmlformats.org/officeDocument/2006/relationships/notesMaster" Target="/ppt/notesMasters/notesMaster1.xml" Id="Rdc39f2880f2541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ef15d6f32e4c82" /><Relationship Type="http://schemas.openxmlformats.org/officeDocument/2006/relationships/notesMaster" Target="/ppt/notesMasters/notesMaster1.xml" Id="Ra92c0300ffe04a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52c9c7187a49cc" /><Relationship Type="http://schemas.openxmlformats.org/officeDocument/2006/relationships/notesMaster" Target="/ppt/notesMasters/notesMaster1.xml" Id="Ra2dfa15a7fd444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0cf31e4ff74193" /><Relationship Type="http://schemas.openxmlformats.org/officeDocument/2006/relationships/notesMaster" Target="/ppt/notesMasters/notesMaster1.xml" Id="Rf73ef15d8d114c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3813e121b344fa" /><Relationship Type="http://schemas.openxmlformats.org/officeDocument/2006/relationships/notesMaster" Target="/ppt/notesMasters/notesMaster1.xml" Id="Rf9eec64bf58645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8d024464fa497f" /><Relationship Type="http://schemas.openxmlformats.org/officeDocument/2006/relationships/notesMaster" Target="/ppt/notesMasters/notesMaster1.xml" Id="R9dc42e60ea8e4e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d22978154544d0" /><Relationship Type="http://schemas.openxmlformats.org/officeDocument/2006/relationships/notesMaster" Target="/ppt/notesMasters/notesMaster1.xml" Id="R9fd1328745b342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封面情境圖為 AI 生成示意。本版以實際使用者操作流程為主，不說明程式架構。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畫面為 AI 生成操作示意，實際欄位可在開發時調整。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畫面為 AI 生成操作示意。商品編號或網址由系統產生並與機器序號配對。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本頁標籤照片取自專案 SAMPLE/IMG_0519.HEIC 的轉檔影像。相機只辨識型號，不辨識序號。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本頁標籤照片取自專案 SAMPLE/IMG_0519.HEIC 的轉檔影像。生管以三聯單和現場標籤照片進行人眼確認。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右側為 AI 生成直接配送情境示意。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背景為 AI 生成轉運情境示意。交接完成後，商品保管責任從大車切換到小車。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a33f437af4a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a7c18b03c0422c" /><Relationship Type="http://schemas.openxmlformats.org/officeDocument/2006/relationships/slideLayout" Target="/ppt/slideLayouts/slideLayout1.xml" Id="Rfa6c5cf1bff64f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c5cf1bff64f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8ebbc9129482b" /><Relationship Type="http://schemas.openxmlformats.org/officeDocument/2006/relationships/image" Target="/ppt/media/image.png" Id="Radb461cfd40f4392" /><Relationship Type="http://schemas.openxmlformats.org/officeDocument/2006/relationships/notesSlide" Target="/ppt/notesSlides/notesSlide1.xml" Id="R5a81f4ea785e44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8a4b7c1ac4f60" /><Relationship Type="http://schemas.openxmlformats.org/officeDocument/2006/relationships/notesSlide" Target="/ppt/notesSlides/notesSlide2.xml" Id="Rc2db7bb5e97140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ea2a1c2e8408c" /><Relationship Type="http://schemas.openxmlformats.org/officeDocument/2006/relationships/notesSlide" Target="/ppt/notesSlides/notesSlide3.xml" Id="R50b498679ca64c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f3ec7546e41b9" /><Relationship Type="http://schemas.openxmlformats.org/officeDocument/2006/relationships/notesSlide" Target="/ppt/notesSlides/notesSlide4.xml" Id="R0acaea39b61541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b809a832647f2" /><Relationship Type="http://schemas.openxmlformats.org/officeDocument/2006/relationships/image" Target="/ppt/media/image2.png" Id="Rcd5b955c8ee54cc6" /><Relationship Type="http://schemas.openxmlformats.org/officeDocument/2006/relationships/notesSlide" Target="/ppt/notesSlides/notesSlide5.xml" Id="R99569edbf9ae41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15a996ca74725" /><Relationship Type="http://schemas.openxmlformats.org/officeDocument/2006/relationships/image" Target="/ppt/media/image3.png" Id="Ra15e2ff802d34032" /><Relationship Type="http://schemas.openxmlformats.org/officeDocument/2006/relationships/notesSlide" Target="/ppt/notesSlides/notesSlide6.xml" Id="Rc7008440b7624d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afcff22e14b48" /><Relationship Type="http://schemas.openxmlformats.org/officeDocument/2006/relationships/image" Target="/ppt/media/image.jpeg" Id="R1307e2621b6d40fa" /><Relationship Type="http://schemas.openxmlformats.org/officeDocument/2006/relationships/notesSlide" Target="/ppt/notesSlides/notesSlide7.xml" Id="R5f81746bd9a64f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b36d69263462b" /><Relationship Type="http://schemas.openxmlformats.org/officeDocument/2006/relationships/image" Target="/ppt/media/image2.jpeg" Id="R39066d77261347c0" /><Relationship Type="http://schemas.openxmlformats.org/officeDocument/2006/relationships/notesSlide" Target="/ppt/notesSlides/notesSlide8.xml" Id="Ra8bad32f2aee44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0fbc2a89d4bd9" /><Relationship Type="http://schemas.openxmlformats.org/officeDocument/2006/relationships/notesSlide" Target="/ppt/notesSlides/notesSlide9.xml" Id="R31083526056c43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4609266dc4e24" /><Relationship Type="http://schemas.openxmlformats.org/officeDocument/2006/relationships/notesSlide" Target="/ppt/notesSlides/notesSlide10.xml" Id="R35ea7318dd234a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3fafb4f454171" /><Relationship Type="http://schemas.openxmlformats.org/officeDocument/2006/relationships/image" Target="/ppt/media/image4.png" Id="Rfb6ab6ccf0684001" /><Relationship Type="http://schemas.openxmlformats.org/officeDocument/2006/relationships/notesSlide" Target="/ppt/notesSlides/notesSlide11.xml" Id="Re8d437335a0a4f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a034b2c10416b" /><Relationship Type="http://schemas.openxmlformats.org/officeDocument/2006/relationships/image" Target="/ppt/media/image5.png" Id="R80cf6d12bc9e4de5" /><Relationship Type="http://schemas.openxmlformats.org/officeDocument/2006/relationships/notesSlide" Target="/ppt/notesSlides/notesSlide12.xml" Id="R06e3ce02da7741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c6fd7648d4d3c" /><Relationship Type="http://schemas.openxmlformats.org/officeDocument/2006/relationships/notesSlide" Target="/ppt/notesSlides/notesSlide13.xml" Id="R7a078a58f7c145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abbadc9e442ba" /><Relationship Type="http://schemas.openxmlformats.org/officeDocument/2006/relationships/notesSlide" Target="/ppt/notesSlides/notesSlide14.xml" Id="Rfa0abf7866134e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461cfd40f4392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37F10-1D53-472A-82D3-942719D8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3B449-D30C-4998-9CC1-D5D7323C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大型家電進出貨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現場操作說明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596F7-A47C-4FC4-89A8-D702244F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DE0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DE0D3"/>
                </a:solidFill>
                <a:latin typeface="Microsoft JhengHei"/>
                <a:ea typeface="Microsoft JhengHei"/>
                <a:cs typeface="Microsoft JhengHei"/>
              </a:rPr>
              <a:t>從進貨批次、商品 QR 到配送簽收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5B0B6-0246-44AA-8A38-3C56F933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79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2C09B-BF24-4170-9FA8-319D701E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給生管、收貨人員與司機看的流程版本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B1224-24C0-4567-AA0C-C83F3374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看得懂、做得到、知道下一步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3E914-E426-4A14-A602-7A1B106D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CBB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A9CBBF"/>
                </a:solidFill>
                <a:latin typeface="Microsoft JhengHei"/>
                <a:ea typeface="Microsoft JhengHei"/>
                <a:cs typeface="Microsoft JhengHei"/>
              </a:rPr>
              <a:t>V2｜2026.10</a:t>
            </a:r>
          </a:p>
        </p:txBody>
      </p:sp>
    </p:spTree>
    <p:extLst>
      <p:ext uri="{BB962C8B-B14F-4D97-AF65-F5344CB8AC3E}">
        <p14:creationId xmlns:p14="http://schemas.microsoft.com/office/powerpoint/2010/main" val="49990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375E7C-BA67-4B69-B799-D053D32C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81126-C6E4-4A23-A38B-98564DD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誰負責什麼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A5712-83C8-4702-81A5-1892F31A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BBB3C-69AE-4311-AF96-3CE08F2D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每個人只需要完成自己那一段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D8D35-29BE-4FBF-9B56-D73123F3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畫面會依工作角色顯示需要處理的內容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2E4B4-F010-4E5E-B0E6-FFFF4130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467100" cy="3676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5733B-7F55-4A41-A522-170F43FD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467100" cy="80010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26E0B-02BD-47EE-9594-287B5CDB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E692B-0470-4244-AE5D-40B0D719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建立進貨批次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確認客戶與型號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建立出貨與轉運任務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EABFC-F12C-4638-B18F-FAA1A389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A4B5A-86C7-4A8E-8A7D-C5388C7C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辦公室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97FB0-40DD-4435-A5D5-A1C8B325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467100" cy="3676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69E4C-E801-4C73-A549-EEDE2B00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467100" cy="80010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FD757-3B3F-4D82-B44D-F1D06DE4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收貨人員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69867-A305-4728-8C15-10A6BB1A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52750"/>
            <a:ext cx="285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掃描機器序號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列印並貼上商品 QR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拍攝型號標籤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A3301-F6F9-40C9-BB22-6DD7532B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57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F66A2-D854-41E0-A70C-B25D0A9F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5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倉庫現場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CEC16-11BA-4A0A-B33D-69A68C4D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467100" cy="36766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45320-71A7-4D58-900D-FB37F466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467100" cy="80010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940B2-AC51-4681-83DB-CFC77909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司機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E56CC-5A28-4274-80BD-3F1F797F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285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從 LINE 點開任務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依清單掃描商品</a:t>
            </a:r>
          </a:p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完成交接或顧客簽收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F2F30-AA03-44CD-A705-81FDA7D7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BD232-8AA4-4DE1-89D3-E026CE55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配送途中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F4DAC-7F9E-419C-A4F7-66438C9D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原則：現場先把商品身分和照片留下來，生管再依三聯單完成確認。</a:t>
            </a:r>
          </a:p>
        </p:txBody>
      </p:sp>
    </p:spTree>
    <p:extLst>
      <p:ext uri="{BB962C8B-B14F-4D97-AF65-F5344CB8AC3E}">
        <p14:creationId xmlns:p14="http://schemas.microsoft.com/office/powerpoint/2010/main" val="1321632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46DB4B-EDF6-448E-A8FB-3B29866D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一天的工作流程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3DABC-3522-4331-ACC9-3C8842B5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C4354-8A59-4D43-83C9-DE7B41D0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商品從進倉到送達，會經過五個階段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DB64E-AAF3-40BB-A01B-55F04CD3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每一次掃描都留下時間，貼在商品上的 QR 不用更換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AA3CF-0C3D-41C5-83D1-79B13CE4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105B7-AD4D-4900-97DE-BFB198D6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1D08C-4E4A-4021-ACB1-673CCE53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35AB0-35D8-451C-A1A0-A2C7297F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進貨批次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04F33-4E16-4433-8613-47659053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生管先開一個批次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076A9-6239-4211-A8A2-9711BF23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36D58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047D4-CA59-456C-829C-778508AC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E43A6-5E1C-42F0-9E03-E71E3845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98183-F3B6-4FBE-917E-1B62D011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收貨建檔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4DE93-1368-4A0A-8A56-7F100D23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每台掃序號、貼 QR、拍標籤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AB9D2-48C2-46ED-A896-4B4FBB30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854C1-444B-42A6-8853-11522652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C33CC-7A67-499B-8495-2E77FCDC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39D16-CC16-4B53-A81B-DA38E123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生管確認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ABE9D-4F31-4A4A-8C7E-B38BFB0D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依三聯單確認客戶與型號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AA2B1-3122-4FB1-A5A8-D33979C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E6346-0716-4F8C-8117-44BF589D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58647-C401-4B83-AF02-BB75DAE8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A4423A-E3D7-4A52-AB8E-9ED26C24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出貨配送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7E04D4-5358-4483-99FD-4F6A3AB6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LINE 通知司機並掃描裝車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F756C-3AFC-4F52-B10D-0F409F02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81200"/>
            <a:ext cx="1943100" cy="3238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B55712-DF78-47ED-B720-F156BDDE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90750"/>
            <a:ext cx="438150" cy="438150"/>
          </a:xfrm>
          <a:prstGeom xmlns:a="http://schemas.openxmlformats.org/drawingml/2006/main" prst="roundRect">
            <a:avLst>
              <a:gd name="adj" fmla="val 32609"/>
            </a:avLst>
          </a:prstGeom>
          <a:solidFill xmlns:a="http://schemas.openxmlformats.org/drawingml/2006/main">
            <a:srgbClr val="7DB19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E51003-0FAD-49EA-B417-728C4AC0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907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A06ADB-D039-4804-AC6B-D4A7895C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5275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送達或轉運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6BE8A0-6963-4527-8D87-926AF4BD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95700"/>
            <a:ext cx="1562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完成交接、照片與簽收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C0D30F-C2D2-4D7D-A4BB-19B7C4AF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現場看 QR 找商品，系統看紀錄知道這台商品何時進倉、屬於誰、目前在哪一台車。</a:t>
            </a:r>
          </a:p>
        </p:txBody>
      </p:sp>
    </p:spTree>
    <p:extLst>
      <p:ext uri="{BB962C8B-B14F-4D97-AF65-F5344CB8AC3E}">
        <p14:creationId xmlns:p14="http://schemas.microsoft.com/office/powerpoint/2010/main" val="20316962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8435A3-1479-47A8-851C-2A836CBE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48AB3-7626-4FDB-8730-A7C9CCAC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進貨流程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8F48A-83FC-443B-82B5-0B4B7898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7DED1-D6F9-41E8-A34B-F62DC90C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一次進貨，現場按照六個步驟完成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7B215-6DE4-4C96-A4B0-03633C44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一批進貨只有一個批次號碼，每台機器各有自己的商品編號與 QR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165BD-472B-4A85-95AC-5B057413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5F7B2-8E3C-47F1-8E62-C8BD3F58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7CFA1-8E0F-47F4-9983-811BD6D1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87A75-A6A8-4E7D-94F9-FECC715B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建立進貨批次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93D54-56F5-483D-9388-83E1074E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生管先建立本次進貨，整批共用同一個批次號碼。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9B9958-E8A0-486D-89A9-28CD84B3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907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55739-C10B-4D69-93AD-454A1F5B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578A1-8AEF-4B4B-AB76-4BD07187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3FB65-DE09-4DCB-BDA4-CE0986A6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掃描每台機器序號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8282B-8AE0-4AFA-A616-2BC858E7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實體條碼機讀取序號，同時產生這台商品的獨立編號。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63ECB-A13D-47A0-A30E-DDBEEC03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65E0B-9407-46FC-9D0F-55D459B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8BF5A-4B42-407A-AC44-9F225989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5CB28-2C40-40F5-A496-71B6BCB7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列印並貼商品 QR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3E0D4D-08D9-47DB-8142-14AE39D3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把獨立商品編號印成 QR，貼在該台機器外箱上。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F7DFB-79ED-4E90-AD99-568B96E1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5870B-57BB-491F-85DE-327B8B5A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7FB05-8368-4DA3-A1D3-8FD12AF5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14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BB0C9-ACB7-432A-9BF3-1F6E2B37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拍攝型號標籤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1A8B04-0BBB-4110-A466-FF2F1D55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把機器上的型號貼紙拍清楚，供生管後續確認。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E8D31-F246-4972-9C39-E98D61C9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701E63-543E-489B-86C1-D2E5CF9F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6B33DF-56CA-41BE-8E01-01896963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9571C3-9C7E-4839-8718-EFB87DF9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01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記錄三聯單末四碼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066353-344E-4A03-9F3D-F90DDB6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有需要時輸入末四碼，沒有需求可直接略過。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5FEAF7-DC56-43C8-9234-4A043F29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95800"/>
            <a:ext cx="53911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8435D6-6393-4974-9C3B-6D646574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9CED42-B5E9-4CFC-BF70-4631EA29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4835EE-2F55-4F41-BA46-40365632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生管完成確認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617B2C-D380-4942-86B0-073CC6BA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91100"/>
            <a:ext cx="4514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依三聯單修改正確客戶，並用照片確認商品型號。</a:t>
            </a:r>
          </a:p>
        </p:txBody>
      </p:sp>
    </p:spTree>
    <p:extLst>
      <p:ext uri="{BB962C8B-B14F-4D97-AF65-F5344CB8AC3E}">
        <p14:creationId xmlns:p14="http://schemas.microsoft.com/office/powerpoint/2010/main" val="1395749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5606E-D798-4BD4-BED4-537B4DC1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6B370-D7D4-4C7D-97B2-AA88AC52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E46D5-E667-46D9-9685-B4C9F0E1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05006-865C-4134-82E7-14C50548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生管先建立一個進貨批次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E2FD5-862E-472A-B39B-2F57C71A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同一批商品只開一次，現場所有機器都放在這個批次裡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b955c8ee54cc6"/>
          <a:srcRect xmlns:a="http://schemas.openxmlformats.org/drawingml/2006/main" l="0" t="2036" r="0" b="2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7810500" cy="4686300"/>
          </a:xfrm>
          <a:prstGeom xmlns:a="http://schemas.openxmlformats.org/drawingml/2006/main" prst="roundRect">
            <a:avLst>
              <a:gd name="adj" fmla="val 406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4424FF-9A4A-4E5F-BE8D-43F78BAF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87E04-E949-4234-BAEA-F7BE1F3D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478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0C3FF-3174-4953-8D57-A926AD3B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畫面只要填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C3EE5-EB96-4277-92BF-0B261B5A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2628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1. 進貨日期</a:t>
            </a:r>
          </a:p>
          <a:p xmlns:a="http://schemas.openxmlformats.org/drawingml/2006/main">
            <a:pPr>
              <a:def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2. 預計到貨台數</a:t>
            </a:r>
          </a:p>
          <a:p xmlns:a="http://schemas.openxmlformats.org/drawingml/2006/main">
            <a:pPr>
              <a:def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3. 必要的備註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26A25-7672-4272-999C-756196D2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43400"/>
            <a:ext cx="26098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DF0AB-3ECA-420C-A4B1-89C4CDA2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2266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建立後記下批次號碼</a:t>
            </a:r>
          </a:p>
          <a:p xmlns:a="http://schemas.openxmlformats.org/drawingml/2006/main">
            <a:pPr>
              <a:def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例如 IN-20261004-001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10DE6-AECC-4219-826D-96784281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959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完成後，倉庫現場即可開始逐台收貨</a:t>
            </a:r>
          </a:p>
        </p:txBody>
      </p:sp>
    </p:spTree>
    <p:extLst>
      <p:ext uri="{BB962C8B-B14F-4D97-AF65-F5344CB8AC3E}">
        <p14:creationId xmlns:p14="http://schemas.microsoft.com/office/powerpoint/2010/main" val="129457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515E50-FFF9-4232-9AF2-204A0A7E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F402C-FE93-42BF-8A7E-CA2059E9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C6901-6481-4306-A6E4-F7CD7274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B67E6-71C8-4AA2-BC74-40559716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現場掃序號，系統替每台商品建立獨立編號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72448-0C24-4CE5-AB40-743A79C0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序號由實體一維條碼機輸入，不使用相機 OCR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e2ff802d34032"/>
          <a:srcRect xmlns:a="http://schemas.openxmlformats.org/drawingml/2006/main" l="0" t="7647" r="0" b="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1657350"/>
            <a:ext cx="8096250" cy="4572000"/>
          </a:xfrm>
          <a:prstGeom xmlns:a="http://schemas.openxmlformats.org/drawingml/2006/main" prst="roundRect">
            <a:avLst>
              <a:gd name="adj" fmla="val 458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7BF3A-F276-48B8-A262-CBCACD3F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647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7FE0B-3B26-4284-94C1-38E46A3A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E014E-FD50-47A4-BCA3-9F3E457D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B7116-AF01-46A5-84EA-321A91A3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掃描序號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00852-9E45-463A-9A36-A958857B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條碼機讀到序號後，畫面顯示「條碼已讀取」。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8E63B-8660-42D6-B967-A699C4DC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2647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55B50-FA0C-46A9-AA33-036DD747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57AA9-57FE-410D-A737-70B102D5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E95F2-0033-46E8-B092-170C7E0C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核對畫面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7376B-3E3C-436E-A69C-71A51FDF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確認序號沒有重複，系統顯示這台商品的獨立編號。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16565A-58B8-424B-A902-E42F3D05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64795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067C73-A59E-4A74-8A43-36299A66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4E743-96ED-45E5-8A08-44DAD5BC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83451-252E-4345-8914-117DF1F6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列印 QR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4A9ED-EA06-4EBB-9B49-ECB5321D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按下列印，立即把 QR 貼在目前這台商品外箱。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EE0EB-3A86-4100-8BCF-C05304C2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633DF-6D25-4C34-ABB1-99454E54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貼好後再處理下一台</a:t>
            </a:r>
          </a:p>
        </p:txBody>
      </p:sp>
    </p:spTree>
    <p:extLst>
      <p:ext uri="{BB962C8B-B14F-4D97-AF65-F5344CB8AC3E}">
        <p14:creationId xmlns:p14="http://schemas.microsoft.com/office/powerpoint/2010/main" val="1027452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60F529-4CCE-4C2B-BABB-41E60A94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5EFE5-45EE-41A1-8239-BC24BDED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2EF2B-2E55-462E-A0C9-7646DF60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5A640-29EA-4E83-8365-6AA6C8A2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貼好 QR 後，拍攝機器上的型號標籤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F5ED6-FD7A-460B-A94F-7426FD99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照片先保存，型號可以由系統提出候選值，再交給生管確認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7e2621b6d40fa"/>
          <a:stretch xmlns:a="http://schemas.openxmlformats.org/drawingml/2006/main"/>
        </p:blipFill>
        <p:spPr>
          <a:xfrm xmlns:a="http://schemas.openxmlformats.org/drawingml/2006/main">
            <a:off x="590550" y="1907381"/>
            <a:ext cx="5048250" cy="3786188"/>
          </a:xfrm>
          <a:prstGeom xmlns:a="http://schemas.openxmlformats.org/drawingml/2006/main" prst="roundRect">
            <a:avLst>
              <a:gd name="adj" fmla="val 502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51B68-C975-4E91-989E-B8055F3B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667250" cy="3409950"/>
          </a:xfrm>
          <a:prstGeom xmlns:a="http://schemas.openxmlformats.org/drawingml/2006/main" prst="roundRect">
            <a:avLst>
              <a:gd name="adj" fmla="val 558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974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78E48-D092-400C-A0FC-04D523A6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E17B6-2622-471D-B179-59D48FBC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實際拍攝樣本 IMG_0519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4EB6E-C878-441A-8FAE-3590D8A2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42925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E6A51-C99D-47B3-A073-61A4DB94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57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照片要拍什麼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EEBE1-DCF6-4D0B-B0E8-D47F083C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193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讓型號完整落在單一綠框內，字要清楚。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D79F1-2E62-4616-A51F-BD07472C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0400"/>
            <a:ext cx="542925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D31E3-665B-4588-8F08-D4DE022E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末四碼何時填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CC693-F1AE-42F6-B479-D7340777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只有需要區分三聯單的經銷商才填寫。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20D97-CFD6-4643-A1FA-2A7671F0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5429250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7E7D1"/>
          </a:solidFill>
          <a:ln xmlns:a="http://schemas.openxmlformats.org/drawingml/2006/main" w="9525">
            <a:solidFill>
              <a:srgbClr val="D8892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B954F-C588-4EB0-9E0A-22D9D35B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0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現場不必做什麼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50B73-EB96-4F2D-8C52-C7366E78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72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D8892B"/>
                </a:solidFill>
                <a:latin typeface="Microsoft JhengHei"/>
                <a:ea typeface="Microsoft JhengHei"/>
                <a:cs typeface="Microsoft JhengHei"/>
              </a:rPr>
              <a:t>不用判斷 OCR 對不對，也不用拍三聯單。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84FBA-424E-4AB2-A28D-55EB0995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24550"/>
            <a:ext cx="3867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43A3A-97A6-4B7B-9BAE-C9723BA8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24550"/>
            <a:ext cx="3867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按保存照片後，這台商品的收貨作業完成</a:t>
            </a:r>
          </a:p>
        </p:txBody>
      </p:sp>
    </p:spTree>
    <p:extLst>
      <p:ext uri="{BB962C8B-B14F-4D97-AF65-F5344CB8AC3E}">
        <p14:creationId xmlns:p14="http://schemas.microsoft.com/office/powerpoint/2010/main" val="87466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59959-724F-4EC0-832D-74FD41F3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4B983-CDC7-4406-9F2A-9663809E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操作畫面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14961-EB4D-4006-B2CB-FA698051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EE4D2-AF91-4E2B-8C77-8857BA18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生管依三聯單確認進貨客戶與型號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3BFFD-B939-4970-9BF3-85EDCDAE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同一批商品集中處理，可快速找出尚未確認的機器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66d77261347c0"/>
          <a:stretch xmlns:a="http://schemas.openxmlformats.org/drawingml/2006/main"/>
        </p:blipFill>
        <p:spPr>
          <a:xfrm xmlns:a="http://schemas.openxmlformats.org/drawingml/2006/main">
            <a:off x="495300" y="1850231"/>
            <a:ext cx="5810250" cy="4357688"/>
          </a:xfrm>
          <a:prstGeom xmlns:a="http://schemas.openxmlformats.org/drawingml/2006/main" prst="roundRect">
            <a:avLst>
              <a:gd name="adj" fmla="val 43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9AB76-58CB-42DA-B483-91160F4A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06BD3-1BFD-460B-85A0-75BC57E5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現場拍攝的標籤照片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86E35-6292-4380-B476-09A1A595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9339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22479-FBC5-4ADA-89C8-474A781A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進貨客戶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3AF56-A82A-4D40-87F4-9D15921D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A 經銷商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3915F-FFFD-4ADC-AF13-0783E2B6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9339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ED56A-299F-457E-B2C0-AC6C88D9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照片提出的型號候選值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5FB4A-3CBE-48A8-9D10-94C6E399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480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WD-S15NW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43F1F-5F38-4807-9C51-967D4D1E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23622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73D71-032D-4980-8FBF-68546B98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48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三聯單末四碼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25A10-2280-4D33-B8E1-80F63589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10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依現場紀錄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46822-9FC9-4C2A-A340-696A4C5C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14800"/>
            <a:ext cx="23622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951F7-E0AA-4632-A6CF-7F4A833A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48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確認結果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9B745-DB36-41EB-BF4D-53483F8A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10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人工核對後確認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39FE3-BA30-439A-8151-7EDDD35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0200"/>
            <a:ext cx="49339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95BAA-172E-4525-B0FA-539FA209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86400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確認並完成這台商品</a:t>
            </a:r>
          </a:p>
        </p:txBody>
      </p:sp>
    </p:spTree>
    <p:extLst>
      <p:ext uri="{BB962C8B-B14F-4D97-AF65-F5344CB8AC3E}">
        <p14:creationId xmlns:p14="http://schemas.microsoft.com/office/powerpoint/2010/main" val="5027210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85223D-4FFC-4DF5-87C8-193978B3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14CEF-CCFF-4021-B4C5-585FEDF6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完成進貨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F2D92-5EFB-44F3-9830-C7DB3381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005CD-A946-4C7E-AB60-F0CF9B1A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確認後，每台商品都有可查詢的進貨紀錄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9A800-F2E6-4543-946A-9F8C7935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日後掃外箱上的 QR，即可找到這台商品的資料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E6324-6725-43D5-B909-DA65413E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55187-027D-4FE8-8C4E-FE673A02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進貨時間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97661-13EF-4796-B4D8-98A9368F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097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哪一天、哪一個批次進倉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459E9-A369-4412-9781-A43BAF20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F8A15-ABE2-43C2-808E-7A99A5A6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商品身分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1127D-DFFE-4623-B423-A92C9B86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品牌、序號、確認後的型號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59E10-0371-4DD3-B3B4-D8C0716D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B63CD-06DB-46A4-AEFE-A3517769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進貨歸屬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9A365-BB20-48C9-89BA-0F6DE3E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480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哪一家經銷商、哪一張三聯單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3BBCE-5933-4F30-B6A5-E275D1A2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BC3E3-AEA3-40E8-BC99-42BD96F2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現場證據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68413-BC67-4144-A4D8-F1AD3D1E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67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原始型號標籤照片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729DD-E6A0-4463-AE79-BADC05BB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048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DB029-F9DE-468D-8C7D-6F7700DC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目前狀態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A9AA94-A7B3-4146-A105-1CF5431F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63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在庫、已配車、配送中或已完成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277C2-B712-424D-8D46-8E3BB315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333750" cy="39243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85A4C-97FF-40A4-A4FA-89D46F6C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05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29996-06D6-4383-9A90-3A971C8F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外箱上的 QR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6ED55-9107-4FFC-8A72-6749BE84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不需要重新列印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9373A1-B68D-4BD8-B5B7-FE113D08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533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生管完成修改後，這張 QR 仍然找到同一台商品。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3A8D3A-DDB8-458A-9B61-CF7893F2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86300"/>
            <a:ext cx="2533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D3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2D3A8"/>
                </a:solidFill>
                <a:latin typeface="Microsoft JhengHei"/>
                <a:ea typeface="Microsoft JhengHei"/>
                <a:cs typeface="Microsoft JhengHei"/>
              </a:rPr>
              <a:t>日後出貨、轉運、簽收，都繼續使用這張 QR。</a:t>
            </a:r>
          </a:p>
        </p:txBody>
      </p:sp>
    </p:spTree>
    <p:extLst>
      <p:ext uri="{BB962C8B-B14F-4D97-AF65-F5344CB8AC3E}">
        <p14:creationId xmlns:p14="http://schemas.microsoft.com/office/powerpoint/2010/main" val="10906815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4F717-E71C-4DBD-A065-9355A6BE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123D1-F4F6-4A43-85C4-2979ED50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司機操作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DCAD1-A25C-44AB-90E5-8E3AB5BB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CBD5-1735-4952-8884-69C72798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司機收到 LINE 任務後，只做兩個主要動作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82943-15CE-4110-9D8C-12A8C8E1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沒有任務時不會收到訊息，也不需要另外學習帳號或密碼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D6896-E2F2-4854-95A6-F3012C3E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4861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C05FE-B0B3-4DB2-9224-C32701B6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7BC03-8C53-4A84-9744-9959A1CB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08FCA-300D-4CFE-9E9A-E2609D34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點開 LINE 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FCE7C-8CFA-43E4-BB20-ADDD75B8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畫面已經知道今天是哪一台車、要載哪些商品。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F3BFD-DFA1-4DD0-B8C5-8BF57C36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4861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6F2"/>
          </a:solidFill>
          <a:ln xmlns:a="http://schemas.openxmlformats.org/drawingml/2006/main" w="9525">
            <a:solidFill>
              <a:srgbClr val="1974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F09BB-EDA2-4A61-90C7-169C980C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B8249-C964-4D8C-BC98-9707BBBA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92753-08EC-4F1F-8818-914292DC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掃描商品 QR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FE1E1-6787-4C0A-AC0D-8EB714AE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裝車、交接或送達時，依畫面逐台掃描。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D018E-394C-4368-9020-8607DC07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4861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DA1D6-F67E-4B62-B2FC-B2E60805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6286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5EF8D0-00DB-44F2-91AB-AD328E19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955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EEB3C-FFF8-4BF4-9790-98279BC1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送出結果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50516-3C73-4A43-96FE-EFAAB97C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57600"/>
            <a:ext cx="289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畫面顯示缺少或拿錯的商品，確認無誤後完成。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9E08A-93AE-47DF-A809-A539F814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125855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E4A3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3B37F-4075-44EF-90C5-67EFB702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同一張商品 QR，會依目前任務判斷這次是裝車、轉運接手或顧客送達。</a:t>
            </a:r>
          </a:p>
        </p:txBody>
      </p:sp>
    </p:spTree>
    <p:extLst>
      <p:ext uri="{BB962C8B-B14F-4D97-AF65-F5344CB8AC3E}">
        <p14:creationId xmlns:p14="http://schemas.microsoft.com/office/powerpoint/2010/main" val="19338079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E0292-BAB3-4FF5-AE8A-0F73D033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9EAEA-3857-4F69-9DBE-E04C52D6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直接配送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23242-08E7-4435-B4C5-E6643F7E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9C6D5-0007-4159-9976-43C118C2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直接配送：從倉庫裝車到顧客簽收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D3662-17E2-4759-8C92-4BEEFA7A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同一位司機完成整段配送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ab6ccf0684001"/>
          <a:srcRect xmlns:a="http://schemas.openxmlformats.org/drawingml/2006/main" l="16070" t="0" r="16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19250"/>
            <a:ext cx="5581650" cy="4629150"/>
          </a:xfrm>
          <a:prstGeom xmlns:a="http://schemas.openxmlformats.org/drawingml/2006/main" prst="roundRect">
            <a:avLst>
              <a:gd name="adj" fmla="val 45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C1379-1043-46BB-9CC6-DE68A8FE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210FB-E748-43AD-ABD6-08B56958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44E3E-DB31-491E-882F-9332CDB5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F61F1-73FD-4E0C-9F09-CDB1F4C1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478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生管傳送 LINE 任務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7BF8D-F29A-4A14-9674-E7407C07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288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任務已列出司機、車輛與本次應載商品。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8F3D6-513E-48BD-8995-50208F70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8B6E5-CF15-4D3B-A24A-18A4B0D1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25AE3-534E-4B36-95F3-8A26466A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9E28B-680D-4F59-81FA-9500FD26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19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倉庫裝車逐台掃描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CB1FE-2800-4910-8F94-11D9DD26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004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商品掃描正確才算裝車完成，避免拿錯客戶商品。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5FFBF-F8C6-4DAD-8AFE-77140B52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143500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1C730-963F-4EAC-9203-E0E53A00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000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EAA5B-F0C4-45F2-9C95-09B61E28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B55E5-7A65-4199-B9A3-6A18E6CF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910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送達後拍照與簽收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11E63A-CA9C-4071-90CA-F9ACBE60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再掃商品 QR，拍 2–3 張安裝照片並請顧客簽名。</a:t>
            </a:r>
          </a:p>
        </p:txBody>
      </p:sp>
    </p:spTree>
    <p:extLst>
      <p:ext uri="{BB962C8B-B14F-4D97-AF65-F5344CB8AC3E}">
        <p14:creationId xmlns:p14="http://schemas.microsoft.com/office/powerpoint/2010/main" val="10910609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DA8BA-57AF-48C4-8FAE-71CA15B0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1D1E2-43E4-4579-A202-DD384C8E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大車轉運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D5968-D809-4B45-97E9-B79ED1ED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C8524-0939-4AA2-81ED-5E73D063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大車轉小車：接手的小車司機負責掃描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9AAAD-FE4E-4812-B93F-3E2716F0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系統比對交接清單，不要求兩位司機共同逐台操作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f6d12bc9e4de5"/>
          <a:srcRect xmlns:a="http://schemas.openxmlformats.org/drawingml/2006/main" l="0" t="11826" r="0" b="11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619250"/>
            <a:ext cx="12192000" cy="523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050C2-8B01-4BD1-9017-55C7375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542925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3C">
              <a:alpha val="92157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6C57A-7450-4CD7-B8E8-E4AA1F7B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2A99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C9397-445D-4653-A484-0F1A3306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6D37C-EDE0-492E-9DC2-7AEF6D81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大車從倉庫裝貨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F71B5-A263-4D94-BB51-7A8B4EB4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裝車時先掃描，商品歸在大車車次。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E56FE-DCB7-4AC3-88BD-3A615854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9090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2A99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534DD-1EE1-4A82-B0D3-ED716FDA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90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201D5-9F27-4B88-B160-9D50B189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生管建立轉運任務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7654F-6DCC-406A-BE32-A1748B81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任務列出要轉給哪一台小車、共有哪些商品。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90DB7-5C9C-4CA5-89D6-368848FA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24400"/>
            <a:ext cx="4572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9E394-2DE2-49D6-8D09-280FFAF5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24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D73A7-D467-4121-936E-893526EC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86300"/>
            <a:ext cx="3790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小車司機掃描接手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36CCF-7BD6-4B00-A1F0-FD713485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3790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D5E8E1"/>
                </a:solidFill>
                <a:latin typeface="Microsoft JhengHei"/>
                <a:ea typeface="Microsoft JhengHei"/>
                <a:cs typeface="Microsoft JhengHei"/>
              </a:rPr>
              <a:t>小車司機逐台掃描，正確後完成交接。</a:t>
            </a:r>
          </a:p>
        </p:txBody>
      </p:sp>
    </p:spTree>
    <p:extLst>
      <p:ext uri="{BB962C8B-B14F-4D97-AF65-F5344CB8AC3E}">
        <p14:creationId xmlns:p14="http://schemas.microsoft.com/office/powerpoint/2010/main" val="12843578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23205-F2C3-4FA4-A080-347622AD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97A27-B518-4E58-BA37-75BD9B78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遇到異常時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D5F31-364A-4112-88B6-06B102DB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D4D1C-96F2-41A5-82DD-34CBB25A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畫面要直接告訴使用者哪裡不對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219F4-BC1E-4042-A124-6B83FC20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現場不需要猜原因，依提示處理即可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AD089-60C1-4D8A-BF2C-75120B0C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71C32-3D23-4874-BD1E-CEAD87D7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06572-AA54-4AD3-901A-37EEADF9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序號已存在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F1AE4-8917-4AD4-9330-B07596C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停止建立，請生管確認是否重複收貨。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5D1A8-362C-46E8-8F55-7E85A88A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0975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90AEC-33F8-450D-BEC9-03B0D5A1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25BC2-33EE-41F6-8004-F044B27D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掃到不在清單的商品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F89C3-EDD2-41FE-9BD9-C1991B35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畫面顯示錯誤，不列入本次裝車或交接。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E4EDF-77C4-4FA5-9E0B-58B8188D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90AFF-A4AB-4476-8501-0E852B12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0B7CA-7219-47DB-B391-807916FB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應載商品沒有掃到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BC8E8-7EC4-4B27-826B-C9CE6927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完成前顯示缺少項目，回頭確認商品是否漏裝。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08AD6-6161-4E77-A41F-A96438E2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5295900" cy="1504950"/>
          </a:xfrm>
          <a:prstGeom xmlns:a="http://schemas.openxmlformats.org/drawingml/2006/main" prst="roundRect">
            <a:avLst>
              <a:gd name="adj" fmla="val 139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8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817CD-515B-44F2-87CE-31D31036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1143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745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A829C-ADDF-4A0B-A6F4-B88F2EAE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7312B"/>
                </a:solidFill>
                <a:latin typeface="Microsoft JhengHei"/>
                <a:ea typeface="Microsoft JhengHei"/>
                <a:cs typeface="Microsoft JhengHei"/>
              </a:rPr>
              <a:t>照片看不清楚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7BDBE-719F-4634-AAC2-83C871FE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3736F"/>
                </a:solidFill>
                <a:latin typeface="Microsoft JhengHei"/>
                <a:ea typeface="Microsoft JhengHei"/>
                <a:cs typeface="Microsoft JhengHei"/>
              </a:rPr>
              <a:t>生管退回待補拍，商品資料保留不會消失。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E4F46-6829-4DB7-A8F2-B64D94C8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09728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DEE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9F7ABA-0C5C-4E4E-8A77-CE19326F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1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9745B"/>
                </a:solidFill>
                <a:latin typeface="Microsoft JhengHei"/>
                <a:ea typeface="Microsoft JhengHei"/>
                <a:cs typeface="Microsoft JhengHei"/>
              </a:rPr>
              <a:t>異常資料交給生管處理，司機與收貨人員只要依畫面指示完成現場動作。</a:t>
            </a:r>
          </a:p>
        </p:txBody>
      </p:sp>
    </p:spTree>
    <p:extLst>
      <p:ext uri="{BB962C8B-B14F-4D97-AF65-F5344CB8AC3E}">
        <p14:creationId xmlns:p14="http://schemas.microsoft.com/office/powerpoint/2010/main" val="20918184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4A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1A616-E89E-43BB-9C2E-4BB6BD4B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預計開發順序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6FF3D-05D5-4861-8CA1-462997D1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DDEEE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62859-0D6B-49FF-A736-7B85C9EC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先讓進貨流程順利運作，再延伸到配送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6110A-B975-4904-8A1D-35A8B1DB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C9DED7"/>
                </a:solidFill>
                <a:latin typeface="Microsoft JhengHei"/>
                <a:ea typeface="Microsoft JhengHei"/>
                <a:cs typeface="Microsoft JhengHei"/>
              </a:rPr>
              <a:t>每一階段先由少量人員試用，確認現場操作真的方便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F570D-6BF4-4B79-BF19-46A57F21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85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236D58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43A29-A5F8-4512-BE95-4BAD6BC0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892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F9873-A415-4171-825C-5C0507F8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第一階段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47234-45EA-41B8-9B06-462B1A7B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764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進貨批次、序號掃描、QR 列印、拍照、生管確認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7868F-B035-4956-9D29-DC5EEC50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C3774-5ED2-44CE-8F1D-E52755AB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05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807F4-EF5F-4CD3-87FB-FA5454D4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第二階段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1C2FA-B61E-48D2-BBD2-682CD267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575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LINE 裝車任務、直接配送、照片與顧客簽收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336B9-6728-4CC4-8BC9-67F41CA4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085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95747"/>
          </a:solidFill>
          <a:ln xmlns:a="http://schemas.openxmlformats.org/drawingml/2006/main" w="9525">
            <a:solidFill>
              <a:srgbClr val="4E837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6436F-11CA-4599-B7FF-CBE460ED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0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8590B-FBFE-4F76-BD6D-94A33C86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148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第三階段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5164E-E4D5-479B-AF43-365B2DA1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大車轉小車、交接清單、缺件與錯件處理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D2736-4191-4C48-AE01-EDF02C5B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8CC5B1"/>
                </a:solidFill>
                <a:latin typeface="Microsoft JhengHei"/>
                <a:ea typeface="Microsoft JhengHei"/>
                <a:cs typeface="Microsoft JhengHei"/>
              </a:rPr>
              <a:t>建議試辦方式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73806-CB04-40A2-BF89-74071D83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245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先選一個倉庫、一至兩家經銷商與固定司機，實際走完一批進貨、一次直接配送及一次轉運。</a:t>
            </a:r>
          </a:p>
        </p:txBody>
      </p:sp>
    </p:spTree>
    <p:extLst>
      <p:ext uri="{BB962C8B-B14F-4D97-AF65-F5344CB8AC3E}">
        <p14:creationId xmlns:p14="http://schemas.microsoft.com/office/powerpoint/2010/main" val="1737596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2026-10-04T15:25:05.0090000Z</dcterms:created>
  <dcterms:modified xsi:type="dcterms:W3CDTF">2026-10-04T15:25:05.0090000Z</dcterms:modified>
</coreProperties>
</file>