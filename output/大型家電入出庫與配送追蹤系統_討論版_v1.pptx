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3a54bd43b4b06" /><Relationship Type="http://schemas.openxmlformats.org/officeDocument/2006/relationships/extended-properties" Target="/docProps/app.xml" Id="Rdcc01d215ca04f83" /><Relationship Type="http://schemas.openxmlformats.org/officeDocument/2006/relationships/officeDocument" Target="/ppt/presentation.xml" Id="Rdd30527956c8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beb2ac473a4e41"/>
  </p:sldMasterIdLst>
  <p:notesMasterIdLst>
    <p:notesMasterId xmlns:r="http://schemas.openxmlformats.org/officeDocument/2006/relationships" r:id="Rdc8840531a214d47"/>
  </p:notesMasterIdLst>
  <p:sldIdLst>
    <p:sldId xmlns:r="http://schemas.openxmlformats.org/officeDocument/2006/relationships" id="256" r:id="Rb69db5d6767c4fec"/>
    <p:sldId xmlns:r="http://schemas.openxmlformats.org/officeDocument/2006/relationships" id="257" r:id="R1219dcc43b0f4025"/>
    <p:sldId xmlns:r="http://schemas.openxmlformats.org/officeDocument/2006/relationships" id="258" r:id="Rb421aa2dc9404bcd"/>
    <p:sldId xmlns:r="http://schemas.openxmlformats.org/officeDocument/2006/relationships" id="259" r:id="Rd9cd31db7c5e43fd"/>
    <p:sldId xmlns:r="http://schemas.openxmlformats.org/officeDocument/2006/relationships" id="260" r:id="Rdb0e8c30da6e415f"/>
    <p:sldId xmlns:r="http://schemas.openxmlformats.org/officeDocument/2006/relationships" id="261" r:id="R652858d918c74322"/>
    <p:sldId xmlns:r="http://schemas.openxmlformats.org/officeDocument/2006/relationships" id="262" r:id="R213c3e9b6cac46dc"/>
    <p:sldId xmlns:r="http://schemas.openxmlformats.org/officeDocument/2006/relationships" id="263" r:id="R7303688b44834d63"/>
    <p:sldId xmlns:r="http://schemas.openxmlformats.org/officeDocument/2006/relationships" id="264" r:id="R938c48c103824e15"/>
    <p:sldId xmlns:r="http://schemas.openxmlformats.org/officeDocument/2006/relationships" id="265" r:id="R85373fcb8e5b4e89"/>
    <p:sldId xmlns:r="http://schemas.openxmlformats.org/officeDocument/2006/relationships" id="266" r:id="R968a4268386b4bb5"/>
    <p:sldId xmlns:r="http://schemas.openxmlformats.org/officeDocument/2006/relationships" id="267" r:id="Rbd073791cea04e00"/>
    <p:sldId xmlns:r="http://schemas.openxmlformats.org/officeDocument/2006/relationships" id="268" r:id="Rf501b7961dbc41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8eb84a5f124329" /><Relationship Type="http://schemas.openxmlformats.org/officeDocument/2006/relationships/slideMaster" Target="/ppt/slideMasters/slideMaster1.xml" Id="R73beb2ac473a4e41" /><Relationship Type="http://schemas.openxmlformats.org/officeDocument/2006/relationships/notesMaster" Target="/ppt/notesMasters/notesMaster1.xml" Id="Rdc8840531a214d47" /><Relationship Type="http://schemas.openxmlformats.org/officeDocument/2006/relationships/presProps" Target="/ppt/presProps.xml" Id="R9f316b01e85f409e" /><Relationship Type="http://schemas.openxmlformats.org/officeDocument/2006/relationships/tableStyles" Target="/ppt/tableStyles.xml" Id="R0019f3ff8bf54a57" /><Relationship Type="http://schemas.openxmlformats.org/officeDocument/2006/relationships/slide" Target="/ppt/slides/slide1.xml" Id="Rb69db5d6767c4fec" /><Relationship Type="http://schemas.openxmlformats.org/officeDocument/2006/relationships/slide" Target="/ppt/slides/slide2.xml" Id="R1219dcc43b0f4025" /><Relationship Type="http://schemas.openxmlformats.org/officeDocument/2006/relationships/slide" Target="/ppt/slides/slide3.xml" Id="Rb421aa2dc9404bcd" /><Relationship Type="http://schemas.openxmlformats.org/officeDocument/2006/relationships/slide" Target="/ppt/slides/slide4.xml" Id="Rd9cd31db7c5e43fd" /><Relationship Type="http://schemas.openxmlformats.org/officeDocument/2006/relationships/slide" Target="/ppt/slides/slide5.xml" Id="Rdb0e8c30da6e415f" /><Relationship Type="http://schemas.openxmlformats.org/officeDocument/2006/relationships/slide" Target="/ppt/slides/slide6.xml" Id="R652858d918c74322" /><Relationship Type="http://schemas.openxmlformats.org/officeDocument/2006/relationships/slide" Target="/ppt/slides/slide7.xml" Id="R213c3e9b6cac46dc" /><Relationship Type="http://schemas.openxmlformats.org/officeDocument/2006/relationships/slide" Target="/ppt/slides/slide8.xml" Id="R7303688b44834d63" /><Relationship Type="http://schemas.openxmlformats.org/officeDocument/2006/relationships/slide" Target="/ppt/slides/slide9.xml" Id="R938c48c103824e15" /><Relationship Type="http://schemas.openxmlformats.org/officeDocument/2006/relationships/slide" Target="/ppt/slides/slide10.xml" Id="R85373fcb8e5b4e89" /><Relationship Type="http://schemas.openxmlformats.org/officeDocument/2006/relationships/slide" Target="/ppt/slides/slide11.xml" Id="R968a4268386b4bb5" /><Relationship Type="http://schemas.openxmlformats.org/officeDocument/2006/relationships/slide" Target="/ppt/slides/slide12.xml" Id="Rbd073791cea04e00" /><Relationship Type="http://schemas.openxmlformats.org/officeDocument/2006/relationships/slide" Target="/ppt/slides/slide13.xml" Id="Rf501b7961dbc41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0097a832a641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7b2231180646d9" /><Relationship Type="http://schemas.openxmlformats.org/officeDocument/2006/relationships/notesMaster" Target="/ppt/notesMasters/notesMaster1.xml" Id="Rec02d1e40de04e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dc2cc5b25449b" /><Relationship Type="http://schemas.openxmlformats.org/officeDocument/2006/relationships/notesMaster" Target="/ppt/notesMasters/notesMaster1.xml" Id="R3ec9b8bc6b8e41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50063088764afb" /><Relationship Type="http://schemas.openxmlformats.org/officeDocument/2006/relationships/notesMaster" Target="/ppt/notesMasters/notesMaster1.xml" Id="R35e09495e97f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d6bb5b9265484f" /><Relationship Type="http://schemas.openxmlformats.org/officeDocument/2006/relationships/notesMaster" Target="/ppt/notesMasters/notesMaster1.xml" Id="R127f7139e36a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8548579f0d482b" /><Relationship Type="http://schemas.openxmlformats.org/officeDocument/2006/relationships/notesMaster" Target="/ppt/notesMasters/notesMaster1.xml" Id="R26a42d0106ab47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96ec1b772348c3" /><Relationship Type="http://schemas.openxmlformats.org/officeDocument/2006/relationships/notesMaster" Target="/ppt/notesMasters/notesMaster1.xml" Id="R5d21ef1acd5d48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1aae1d31514333" /><Relationship Type="http://schemas.openxmlformats.org/officeDocument/2006/relationships/notesMaster" Target="/ppt/notesMasters/notesMaster1.xml" Id="Ra9036bcca3a647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aab100b3c4c18" /><Relationship Type="http://schemas.openxmlformats.org/officeDocument/2006/relationships/notesMaster" Target="/ppt/notesMasters/notesMaster1.xml" Id="Rfd0cae2aa6c0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52b1c8796f4bb8" /><Relationship Type="http://schemas.openxmlformats.org/officeDocument/2006/relationships/notesMaster" Target="/ppt/notesMasters/notesMaster1.xml" Id="R3faefd879dfb47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49f2ff689f4169" /><Relationship Type="http://schemas.openxmlformats.org/officeDocument/2006/relationships/notesMaster" Target="/ppt/notesMasters/notesMaster1.xml" Id="R416f212e6b8747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6f02afe26b4d7a" /><Relationship Type="http://schemas.openxmlformats.org/officeDocument/2006/relationships/notesMaster" Target="/ppt/notesMasters/notesMaster1.xml" Id="R2a012c89f5554f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623add95da4ce5" /><Relationship Type="http://schemas.openxmlformats.org/officeDocument/2006/relationships/notesMaster" Target="/ppt/notesMasters/notesMaster1.xml" Id="Rede740f963bd42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87d65eef6a492d" /><Relationship Type="http://schemas.openxmlformats.org/officeDocument/2006/relationships/notesMaster" Target="/ppt/notesMasters/notesMaster1.xml" Id="R0eef2ec994fd4f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封面情境圖為 AI 生成示意，不代表特定真實倉庫。</a:t>
            </a:r>
          </a:p>
          <a:p xmlns:a="http://schemas.openxmlformats.org/drawingml/2006/main">
            <a:r>
              <a:t>本簡報整理本次流程討論與建議開發範圍。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左側為 AI 生成的流程情境圖。現場不拍攝三聯單，三聯單照既有流程交給生管。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右側欄位為建議資料模型。左側為專案既有樣本圖片，用於說明原圖保存的價值。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右側為 AI 生成情境示意。三聯單仍依既有紙本流程交給生管，不要求收貨現場拍攝或 OCR。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右側為 AI 生成的安裝簽收情境圖。照片與簽名應保存原檔、時間及對應任務。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背景為 AI 生成的大車與小車轉運情境圖。建議以接手方掃描作為交接完成事件，系統保留前後車次與時間。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7b5c341df45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7e6cb39de4a66" /><Relationship Type="http://schemas.openxmlformats.org/officeDocument/2006/relationships/slideLayout" Target="/ppt/slideLayouts/slideLayout1.xml" Id="R64dc99aea4f9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dc99aea4f9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631661d71413a" /><Relationship Type="http://schemas.openxmlformats.org/officeDocument/2006/relationships/image" Target="/ppt/media/image.png" Id="Rd04e180e5a3147e8" /><Relationship Type="http://schemas.openxmlformats.org/officeDocument/2006/relationships/notesSlide" Target="/ppt/notesSlides/notesSlide1.xml" Id="Rdf894c52616045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76721c7f942f2" /><Relationship Type="http://schemas.openxmlformats.org/officeDocument/2006/relationships/notesSlide" Target="/ppt/notesSlides/notesSlide2.xml" Id="R7f442323f85446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f2990e76d4a87" /><Relationship Type="http://schemas.openxmlformats.org/officeDocument/2006/relationships/notesSlide" Target="/ppt/notesSlides/notesSlide3.xml" Id="Re0d478a40439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0af5530cb4292" /><Relationship Type="http://schemas.openxmlformats.org/officeDocument/2006/relationships/image" Target="/ppt/media/image2.png" Id="R58909ea034a54180" /><Relationship Type="http://schemas.openxmlformats.org/officeDocument/2006/relationships/notesSlide" Target="/ppt/notesSlides/notesSlide4.xml" Id="Rc189b070ba5d44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d8db8ea934123" /><Relationship Type="http://schemas.openxmlformats.org/officeDocument/2006/relationships/image" Target="/ppt/media/image3.png" Id="Rf67b76c4bfb744fb" /><Relationship Type="http://schemas.openxmlformats.org/officeDocument/2006/relationships/notesSlide" Target="/ppt/notesSlides/notesSlide5.xml" Id="R57eebce6799040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10002347b4a48" /><Relationship Type="http://schemas.openxmlformats.org/officeDocument/2006/relationships/image" Target="/ppt/media/image4.png" Id="Rae464bc4c4bd44e0" /><Relationship Type="http://schemas.openxmlformats.org/officeDocument/2006/relationships/notesSlide" Target="/ppt/notesSlides/notesSlide6.xml" Id="R52f5ae28b85c4a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d99f0a4a649d4" /><Relationship Type="http://schemas.openxmlformats.org/officeDocument/2006/relationships/notesSlide" Target="/ppt/notesSlides/notesSlide7.xml" Id="Rf8d2d4ae33f243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2fea0d355450e" /><Relationship Type="http://schemas.openxmlformats.org/officeDocument/2006/relationships/notesSlide" Target="/ppt/notesSlides/notesSlide8.xml" Id="R4225da32bd4d4d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bbaf918ee4798" /><Relationship Type="http://schemas.openxmlformats.org/officeDocument/2006/relationships/image" Target="/ppt/media/image5.png" Id="R61606c4e1c614172" /><Relationship Type="http://schemas.openxmlformats.org/officeDocument/2006/relationships/notesSlide" Target="/ppt/notesSlides/notesSlide9.xml" Id="Ra77065f0a42b41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c7e15e9f1448c" /><Relationship Type="http://schemas.openxmlformats.org/officeDocument/2006/relationships/image" Target="/ppt/media/image6.png" Id="R873cfdc55e0b43bc" /><Relationship Type="http://schemas.openxmlformats.org/officeDocument/2006/relationships/notesSlide" Target="/ppt/notesSlides/notesSlide10.xml" Id="R0996c5180e9241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5e328a0354709" /><Relationship Type="http://schemas.openxmlformats.org/officeDocument/2006/relationships/notesSlide" Target="/ppt/notesSlides/notesSlide11.xml" Id="R4e8df3ad99724d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9014f38764b5e" /><Relationship Type="http://schemas.openxmlformats.org/officeDocument/2006/relationships/notesSlide" Target="/ppt/notesSlides/notesSlide12.xml" Id="Raaaec188f73843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bb87e244a421f" /><Relationship Type="http://schemas.openxmlformats.org/officeDocument/2006/relationships/notesSlide" Target="/ppt/notesSlides/notesSlide13.xml" Id="Rd858267636b041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e180e5a3147e8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8F76-F0ED-4521-9ACA-5775A2B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90E6E-0D4D-4162-AADB-EFD90F4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大型家電入出庫與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配送追蹤系統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F4B79-A209-4C39-830B-9BD6B82E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rPr>
              <a:t>QR Code × LINE LIFF × 生管複核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12851-7AB5-4AF0-9A14-1A0FBC9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79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6FD2B-4931-443F-B904-BE88A6D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討論結果與軟體開發方向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10BBE-3A50-4376-B667-3C80272B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收貨建檔｜出貨指派｜轉運交接｜安裝簽收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18DBE-2878-4112-8672-1A70B456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132421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0AEBA-CD4D-48BA-A586-79573D42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C5C4B-22D1-4B73-8CEA-C8E261FE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設計原則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047C5-7993-47D3-AA6C-7711AC5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BB2A4-6C69-4340-A573-70ACE042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準確性不應只押在 OCR 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4D708-64A3-40EE-94A2-4AE35168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系統要保留證據，並讓生管能在事後修正資料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46521-30D1-4865-8C15-9CD2903A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314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FE843-99E4-43F7-B2E1-86AFB874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D8A73-1CB8-4CE4-A5CD-CDA255CE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序號是主要辨識鍵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DCC23-F4AE-43E7-83E8-56C869BB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現場使用實體一維條碼機輸入。</a:t>
            </a:r>
          </a:p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同一品牌內，序號可視為唯一值。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10FC0-ABF5-42C0-8210-578570C0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314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C32A8-FB98-46FA-9C24-61EA8F6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F88E8-A014-4AFE-AF25-FCB5B58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型號 OCR 只做輔助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CAD2B-351C-4070-BC24-FF09242C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336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模型先提出候選值。</a:t>
            </a:r>
          </a:p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低信心或疑似字元必須保留待確認狀態。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EA043-9C0B-43E4-A0E2-57206C5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5314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3440B-15BA-47F5-9D2F-89647F78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E546D-3D0B-415B-BC6E-CE062C4C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標籤照片永久保存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B8548-4242-4ADE-9A0A-9B7523C7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保存完整原圖與辨識裁切圖。</a:t>
            </a:r>
          </a:p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生管可依照片和三聯單核對型號。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F53EB-EC05-44C3-9CFD-EADAFE5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5314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EEE41-DBA6-41A2-BB35-7D219051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F23A1-454D-40BB-9F24-5ACECA20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商品 QR 永久不變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90C60-54FD-4B5A-AF14-5C06F55C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QR 只指向商品身分。</a:t>
            </a:r>
          </a:p>
          <a:p xmlns:a="http://schemas.openxmlformats.org/drawingml/2006/main">
            <a:pPr>
              <a:def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型號、單據與配送狀態留在伺服器更新。</a:t>
            </a:r>
          </a:p>
        </p:txBody>
      </p:sp>
    </p:spTree>
    <p:extLst>
      <p:ext uri="{BB962C8B-B14F-4D97-AF65-F5344CB8AC3E}">
        <p14:creationId xmlns:p14="http://schemas.microsoft.com/office/powerpoint/2010/main" val="709043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34DAB-8209-4083-AE2A-E14F0119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D14CD-31BE-4596-87A2-41EEF12B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B9221-592E-4CE9-95BB-AEC02B8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一張永久 QR，串起商品的完整履歷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BC41E-5CCA-439B-BE11-EF7A7F4B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每一次掃描都新增事件，不必重印商品標籤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DEB65-0B6C-418E-81E3-EEDED6C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676400" cy="28575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A5A49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11364-DE57-48A6-8389-87AA735B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381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E6DB0-6C17-4402-80FD-ED7E7F2F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E93CA-97F0-4DC1-9615-2128AAD0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收貨建檔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71542-7F77-47D5-8E60-05B8B48D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序號掃描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拍攝標籤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列印商品 QR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6CC06-1ACB-4AA4-B07B-B1F36DE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676400" cy="28575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A5A49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A696A-90D3-4CD2-8320-20F6FA69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4381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338CE-206F-4E48-B55C-9C146B8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381F6-8EBB-4BAB-BED2-3054A372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生管複核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CF29E-7749-4D2F-9989-283A25D8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19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三聯單比對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確認型號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配對單據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D2508-F9CA-41F1-BEB7-CAFF53BD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38350"/>
            <a:ext cx="1676400" cy="28575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36D58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3B694-DD92-4276-A1AF-CBB3A3A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4381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6D02C-D3B5-4E5E-8DBC-EA40C417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D783B-6178-4CAA-908C-1952C2F4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出貨指派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0E269-83A2-4342-9DE2-659A04CB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建立車次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LINE 發任務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產生裝載清單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504F7-5DF9-4A42-B6C1-CAA2C6CF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38350"/>
            <a:ext cx="1676400" cy="28575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A5A49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8F9A0-5F87-4163-B16E-129F3BA9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4381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CBC8A-3936-4822-863A-D7C16A5D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7C3BD-C670-4E6B-A392-F4D2C36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146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配送／轉運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000E0-12A1-4269-9A13-CB21384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19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裝車掃描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交接掃描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更新保管責任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37AA2-0131-4E6D-B97C-DBC5070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1676400" cy="28575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A5A49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B258C-4136-4D2A-AC56-EAF862B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4381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C24A3-EFA1-4CD9-9D59-AB0A7F9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3DE6B-7446-458E-A8FC-4035AB4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安裝簽收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4CD6DC-B0A7-4C3E-AD3A-3604D75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送達掃描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現場照片</a:t>
            </a:r>
          </a:p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顧客簽名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2DCB2-999C-4A11-B244-B6FB40F0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rPr>
              <a:t>商品身分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64BD0-40FF-4ED7-A456-F1F926F2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34025"/>
            <a:ext cx="868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79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66E4EB-DF17-4089-BF08-AAB2C734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02285-53A9-4923-AAD1-CA2C3D36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永久 QR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8E219B-899A-44AC-8373-AFD0B16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721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事件時間、操作者、車次、照片與簽收資料，全部寫入同一件商品的歷史紀錄</a:t>
            </a:r>
          </a:p>
        </p:txBody>
      </p:sp>
    </p:spTree>
    <p:extLst>
      <p:ext uri="{BB962C8B-B14F-4D97-AF65-F5344CB8AC3E}">
        <p14:creationId xmlns:p14="http://schemas.microsoft.com/office/powerpoint/2010/main" val="978016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0DFC9-213A-4B7D-9F79-7BC8A3C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89861-71D4-4D2A-86F8-4BE777D3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收貨進倉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2728B-2F13-4D9F-8F26-77AE8F9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058EC-0DA8-41E6-97B5-C598C4FB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現場完成四件事，先讓商品可追蹤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7D8D5-5580-4723-A074-6B78240C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收貨速度優先，型號正確性由照片和後續複核補強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09ea034a54180"/>
          <a:srcRect xmlns:a="http://schemas.openxmlformats.org/drawingml/2006/main" l="12315" t="0" r="12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809750"/>
            <a:ext cx="5791200" cy="4324350"/>
          </a:xfrm>
          <a:prstGeom xmlns:a="http://schemas.openxmlformats.org/drawingml/2006/main" prst="roundRect">
            <a:avLst>
              <a:gd name="adj" fmla="val 52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4E300-1B4A-4B40-B25F-F0B02C0D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9720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F1D97-ADEB-41A5-B6F8-BD134552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19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06B17-0889-4C35-8155-C1D58960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掃描序號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1161B-0D60-41FB-A58E-59D7F10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050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用實體條碼機輸入，避免 OCR 誤讀。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85692-30F3-4AFF-A544-0D3300D0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9720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20D2F-7726-45A4-B0B7-6448FD0D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67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00884-8BC0-449D-9294-CF2DB0E8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拍攝型號標籤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3CC01-4752-4B13-81A2-01EB2A0C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528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保存完整原圖，也保存型號辨識範圍。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D738F-9C74-445C-AAE8-199328B0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9720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BC257-74E7-4818-968F-B14A6E5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A7732-61EB-4CFB-AD3A-1F16690A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列印商品 QR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1B0A1-4212-491B-A267-DE159CD5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QR 固定連到商品 ID，立即貼在外箱。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1C1F8-CE1A-456C-9F98-E6A980A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49720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A6B41-2399-4FFD-96ED-3582E552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62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67953-B002-41BE-8BD9-FA6E370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05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記錄單據末四碼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BB0B6-F6C5-4912-B822-F988C68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4483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只對有需求的經銷商啟用。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7D39C-30FD-492D-A5E7-DB2E4184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91200"/>
            <a:ext cx="2514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0C88E-11FE-4FD8-A843-A4358ABC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91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收貨完成狀態：待生管確認</a:t>
            </a:r>
          </a:p>
        </p:txBody>
      </p:sp>
    </p:spTree>
    <p:extLst>
      <p:ext uri="{BB962C8B-B14F-4D97-AF65-F5344CB8AC3E}">
        <p14:creationId xmlns:p14="http://schemas.microsoft.com/office/powerpoint/2010/main" val="2146340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99CD82-8105-4B9C-86E8-FEEF50F5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8722F-C337-4BDD-9BFA-FF116069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收貨進倉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8F8D7-5FBD-473C-8173-C60DDB99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C4798-121F-41BC-91F1-0FEC99DC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一筆商品資料，同時保留值與證據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CDA26-F348-4D59-A385-C0F6DB01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OCR 判斷錯誤時，生管仍可回到原始資料修正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b76c4bfb744fb"/>
          <a:stretch xmlns:a="http://schemas.openxmlformats.org/drawingml/2006/main"/>
        </p:blipFill>
        <p:spPr>
          <a:xfrm xmlns:a="http://schemas.openxmlformats.org/drawingml/2006/main">
            <a:off x="533400" y="2000868"/>
            <a:ext cx="4953000" cy="3427765"/>
          </a:xfrm>
          <a:prstGeom xmlns:a="http://schemas.openxmlformats.org/drawingml/2006/main" prst="roundRect">
            <a:avLst>
              <a:gd name="adj" fmla="val 515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F2CE4-9C07-472E-A1A4-A0C9D463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05269-7A33-4FEC-90EC-FC8353B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實際標籤範例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4B832-EE30-48CF-8175-02AD3068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52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995CD-1F69-40D2-A2F3-1F0C5215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商品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18909-7003-4F62-AFBE-EC4C2757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系統產生，QR 永久對應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61B97-3F03-4E4A-BB49-AAFAE831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552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B982B-066E-46C0-A3AC-E813F73C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品牌＋序號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8F403-0BEC-4A8D-A879-8A610709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序號由實體條碼機輸入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9FA54-374D-44D0-896F-90E1977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552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22BC1-C520-4A9C-991B-76F522EB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型號候選值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0ED9D-0322-4C07-9254-EFDD0730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OCR 結果、信心值、確認狀態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22E56-9B1B-48CC-815C-9116DAB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552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4453E-BA7F-40AC-AF61-C935C2A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照片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F0200-215F-4716-BDA4-16BA3294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完整標籤原圖＋型號裁切圖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9D305-4317-4978-9C01-374EA4A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552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DC3E8-8AC5-4E39-8947-16937560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進貨資訊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97318-2A2F-441C-948C-A7B6240B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經銷商、批次、時間、收貨人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B24CB-501F-4C70-8822-50BF25C6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86350"/>
            <a:ext cx="552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19769-E3CD-4268-BB6A-C8D15C6F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62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三聯單末四碼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C96C8-C339-468C-B74F-410B864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625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依經銷商設定選填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3D73B-2B67-4C19-AFA9-8378208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626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重要：QR 不存放容易變動的型號或單據內容，只保存能找到這筆商品的識別資訊。</a:t>
            </a:r>
          </a:p>
        </p:txBody>
      </p:sp>
    </p:spTree>
    <p:extLst>
      <p:ext uri="{BB962C8B-B14F-4D97-AF65-F5344CB8AC3E}">
        <p14:creationId xmlns:p14="http://schemas.microsoft.com/office/powerpoint/2010/main" val="2034228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9E1A0-4096-47D4-A994-08AF5007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B6428-DC07-49B0-9A74-2EAE3568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生管複核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FE6CC-223B-4F9D-9686-8DEDB33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C6680-C336-47A0-BEF5-5D31B974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生管用三聯單與標籤照片完成二次確認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59EAF-64C0-433A-99AF-2C339839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現場先建檔，生管再把商品放到正確的經銷商與單據下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64bc4c4bd44e0"/>
          <a:srcRect xmlns:a="http://schemas.openxmlformats.org/drawingml/2006/main" l="10135" t="0" r="101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1657350"/>
            <a:ext cx="6477000" cy="4572000"/>
          </a:xfrm>
          <a:prstGeom xmlns:a="http://schemas.openxmlformats.org/drawingml/2006/main" prst="roundRect">
            <a:avLst>
              <a:gd name="adj" fmla="val 45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03319-238E-4196-B10C-6CBD74FE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C921B-8976-4F76-9E97-FE930CF2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批次清單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9E21E-ED85-4CA4-B1AC-1B00EC0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先依經銷商、收貨日期與批次篩選。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54492-00A9-4A24-8CB3-B2F4597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3BE5F-17AF-4669-B67F-247C15F1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三聯單內容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EEA2B-FB46-4F18-BD80-FDD1B28C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337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比對該批商品的詳細型號與數量。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0B2A4-AAD1-490F-B414-3B075889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95F92-8BEF-4E5E-931D-26C6C529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標籤照片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03559-B7DA-4B2C-9BD8-3E662E43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查看原圖，修正 OCR 容易混淆的字元。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B819-5F32-4F7E-8775-E888CF8C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A41E8-7861-41A1-9E63-3C6FEBF2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529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單據配對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E06D2-D794-4403-BF83-BD5A5422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339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有末四碼需求時，連結到完整三聯單號。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0780C-9CE7-45A7-8E2D-650EFED2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552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39005-8294-442C-A6F3-5FAC1268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確認後才進入可出貨庫存</a:t>
            </a:r>
          </a:p>
        </p:txBody>
      </p:sp>
    </p:spTree>
    <p:extLst>
      <p:ext uri="{BB962C8B-B14F-4D97-AF65-F5344CB8AC3E}">
        <p14:creationId xmlns:p14="http://schemas.microsoft.com/office/powerpoint/2010/main" val="374787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74514-D46B-44F3-B48C-BCCC7522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6ED21-CE55-4745-A6CE-4FCAF0EA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LINE LIFF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5DE6C-7115-46A2-BE7A-129AE8C2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0EB05-B520-491A-B795-C75EABD0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商品 QR 與 LIFF 任務各自負責一件事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17EF-966A-48AD-91B2-6BA95F03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QR 說明『是哪一台』，任務連結說明『現在要做什麼』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B51CC-7AF8-4005-87F1-D734AF84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95300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BF7A2-4366-434B-8202-70D3140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D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E7B4A-8F00-4956-8592-7A3734FC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貼在商品上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9E8A2-14E6-4D84-9487-4E956153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永久商品 QR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C3004-2F0E-4F19-A347-011A931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3905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• 每台商品唯一</a:t>
            </a:r>
          </a:p>
          <a:p xmlns:a="http://schemas.openxmlformats.org/drawingml/2006/main">
            <a:pPr>
              <a:def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• 標籤入倉後不需重印</a:t>
            </a:r>
          </a:p>
          <a:p xmlns:a="http://schemas.openxmlformats.org/drawingml/2006/main">
            <a:pPr>
              <a:def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• 單獨掃描時只開啟安全的商品入口</a:t>
            </a:r>
          </a:p>
          <a:p xmlns:a="http://schemas.openxmlformats.org/drawingml/2006/main">
            <a:pPr>
              <a:def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• 所有事件回寫同一筆商品履歷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C1A11-921D-4B9C-9507-6A0E79CA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52450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B4292-8F07-4F50-94C2-56D09E78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79EAA-4AF5-4340-85FD-62C4970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由 LINE 傳給司機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102DD-A186-426A-9550-89A23EE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單次 LIFF 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92DF5-F099-490E-96DF-3C0B3CFE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4476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• 任務指定車次、動作與有效時間</a:t>
            </a:r>
          </a:p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• 司機點一下即可開始掃描</a:t>
            </a:r>
          </a:p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• 系統知道這次掃描屬於裝車、交接或簽收</a:t>
            </a:r>
          </a:p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• 任務完成後自動關閉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3CE36-457F-406D-8240-15E913D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72150"/>
            <a:ext cx="43815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546E9-D598-4398-AF84-15DE0BE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司機不需輸入帳號、密碼、PIN 或簡訊驗證碼</a:t>
            </a:r>
          </a:p>
        </p:txBody>
      </p:sp>
    </p:spTree>
    <p:extLst>
      <p:ext uri="{BB962C8B-B14F-4D97-AF65-F5344CB8AC3E}">
        <p14:creationId xmlns:p14="http://schemas.microsoft.com/office/powerpoint/2010/main" val="1613837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07F9C-E664-41D8-837E-7683058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A4261-EDD5-4DC8-BE23-6A7F39F6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LINE LIFF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B9BA4-2887-4EB7-A60A-F2B36039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C6D6C-0F6F-48BE-9AC5-DD673F49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司機端維持兩個主要動作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7C8A3-3791-4665-8D6E-69A8DD92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有任務才收到 LINE 訊息，點開後直接掃商品 QR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4B730-58A4-48ED-B5DF-84796FA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86150" cy="2647950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53ABF-62A1-4876-A544-4C89B7C6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AA4CC-F2CD-42C8-85FC-750E9B9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3B023-6B21-4178-ACDD-B4B65E9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點開 LINE 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73DA1-E92F-49C8-A33F-F9D18B9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訊息已帶入車次、地點與工作內容。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664E2-AEC4-4DE1-87B7-3F513095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486150" cy="2647950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1974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F41E8-E6EF-435B-85FA-47BA836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A727F-AC8A-4793-8213-F38EF7C4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B842B-4A2A-4485-958B-397AEE41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0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掃描商品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C00EC-C5CC-49AA-9E2B-56591C02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連續掃描多台商品，畫面即時顯示已完成與缺少項目。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CCA2C-42FA-49FF-9FE9-9CB5B75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486150" cy="2647950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28D3B-30F4-44BA-819A-21325638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ED120-2FE1-4426-A6E7-86BDBE24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3DB59-9800-4E28-AACD-48F2247B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送出結果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DFABE-836D-47F7-8405-16F4F358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系統寫入時間、任務、商品與目前保管車輛。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FBB3E-F748-4283-B197-8A6C726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258550" cy="1238250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45F25-F08D-46FE-BD53-6393395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任務頁會自動判斷掃描意義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568A5-7A35-46ED-82C0-BDB1764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同一張商品 QR，在「倉庫裝車」任務代表領貨，在「轉運交接」任務代表接手，在「顧客簽收」任務代表送達。</a:t>
            </a:r>
          </a:p>
        </p:txBody>
      </p:sp>
    </p:spTree>
    <p:extLst>
      <p:ext uri="{BB962C8B-B14F-4D97-AF65-F5344CB8AC3E}">
        <p14:creationId xmlns:p14="http://schemas.microsoft.com/office/powerpoint/2010/main" val="345017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AA5F7-916E-4340-AA0B-90626E1D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214D5-1141-4978-99DD-35369DE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出貨流程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85C55-89E8-4630-8F4C-B3F8CB3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E426-488C-4142-A47B-E6D90507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直接配送：同一車次完成裝車到簽收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2FAB3-08E3-4AD2-A739-46346B32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生管建立任務，司機依 LINE 指示執行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06c4e1c614172"/>
          <a:srcRect xmlns:a="http://schemas.openxmlformats.org/drawingml/2006/main" l="16070" t="0" r="16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5581650" cy="4629150"/>
          </a:xfrm>
          <a:prstGeom xmlns:a="http://schemas.openxmlformats.org/drawingml/2006/main" prst="roundRect">
            <a:avLst>
              <a:gd name="adj" fmla="val 45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0AB91-CA04-4CCD-80EA-4F94F1F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534C7-76D9-4968-9526-07B51A5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1F80B-632E-449E-8FAD-DA127CA5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E50E3-0D6F-4645-9F5A-338F2AEF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76425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生管建立配送車次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EDE87-64F2-4697-929A-30BA36AB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指定司機、車輛、商品與預計送達地點。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DAB59-142E-4C00-9A8F-7773D1FB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E46DA-71CD-4ADA-8482-338A131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C3B94-7002-4051-8617-F1C28FE1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EC961-792C-4486-9721-BFA0EC8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28975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倉庫裝車時掃描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C06E3-69A4-40E9-A137-EC744B2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LIFF 比對應載清單，避免拿錯經銷商或單據的商品。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305A6-C789-4DF7-8981-B9C6AA5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A0A46-5906-4341-BB9F-447CEF7E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25432-FE80-49C2-A539-CEE43FD3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76CC8-63EE-4242-A763-555E13D0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顧客端完成簽收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6648B-13A0-4BDD-9CA8-7E44D1DD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送達再掃一次，拍 2–3 張現場照片並取得顧客簽名。</a:t>
            </a:r>
          </a:p>
        </p:txBody>
      </p:sp>
    </p:spTree>
    <p:extLst>
      <p:ext uri="{BB962C8B-B14F-4D97-AF65-F5344CB8AC3E}">
        <p14:creationId xmlns:p14="http://schemas.microsoft.com/office/powerpoint/2010/main" val="1004644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CDE3C-F1B5-4A73-A87E-9889412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05BCB-DBAC-4615-BEF9-4D300E10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出貨流程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7C533-B272-4346-B8BE-0756CF14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EEAC3-B8E3-4E77-B53A-790AB73C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大車轉小車：用交接任務建立保管責任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10EB9-B4D7-4DB7-8F00-A3F1EB6B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不要求兩位司機逐台共同操作，由接手方掃描並由系統核對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cfdc55e0b43bc"/>
          <a:srcRect xmlns:a="http://schemas.openxmlformats.org/drawingml/2006/main" l="0" t="11826" r="0" b="11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19250"/>
            <a:ext cx="1219200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5BC65-97A3-40C2-8B26-96948E35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53340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>
              <a:alpha val="92157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D6867-8318-458D-BF38-59940D4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6688F-B48A-43A4-ACBA-DECDF567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3F21C-F337-4F16-892C-025A4058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大車裝載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90B88-D4DA-4F01-82E6-6822FA1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倉庫掃描後，商品保管責任進入大車車次。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381DA-33EC-4E54-BD3E-F06E1879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24225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627A6-4229-427B-B1C9-82C15EB7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242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FD9F4-0E15-41DE-89F1-478E2904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生管建立交接任務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738C2-27AE-4DF8-87E7-9E64C263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任務包含預計交接商品與接手的小車。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75419-C104-4681-8902-E6B0C688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101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5D568-DBA8-4A23-A11F-5593634A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10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1E896-9BD0-493C-A5A4-A312E6B0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815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小車司機掃描接手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48E8F-B69D-4DF0-9006-078FD646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LIFF 顯示缺件、多件或錯件；確認後責任切換到小車。</a:t>
            </a:r>
          </a:p>
        </p:txBody>
      </p:sp>
    </p:spTree>
    <p:extLst>
      <p:ext uri="{BB962C8B-B14F-4D97-AF65-F5344CB8AC3E}">
        <p14:creationId xmlns:p14="http://schemas.microsoft.com/office/powerpoint/2010/main" val="19372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2E2142-0A6A-4D62-BF82-52E5A309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451E7-CA03-42EA-95AC-8D56C88D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單據與紀錄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02268-9C82-4491-894E-F26F93C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9D877-E3DC-4DCD-951B-9F813D55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單據負責商務歸屬，事件負責物流歷史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ACADB-67FE-442E-82AA-2A666958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商品可以在不同車次間移動，但經銷商與三聯單關係不會混在一起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A401-91F6-4660-9912-5F5F37F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429000" cy="35433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1CBEC-F2E9-4420-99EE-00CA897C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429000" cy="742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995C6-E4BA-4556-91C8-A2F0CE2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商品主檔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E2BA0-EA34-47A0-AFA6-0A52A410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EBACA-9265-44A8-AF7F-28CECEF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商品 ID／永久 QR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9CFE2-ECB4-407A-BCE6-784C5F1A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B57FD-B0A5-49D4-8E2C-EA864A5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05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品牌、序號、確認型號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C4F16-CAFF-4182-A8D1-FDF1D39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CCEA7-7358-4912-AAA5-BF0ECF85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標籤照片與入庫時間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6E571-4A8F-4785-B1C8-3594589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E4A3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AD1D7-A240-47B9-82B0-EEED5214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672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經銷商、批次、三聯單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ECC91-F77F-41E8-8BF1-453B57DF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429000" cy="35433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BE83C-E8F0-4CB7-BC47-20563C0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429000" cy="742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4FA02-C192-40B9-97D6-D330DAC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出貨單／車次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9F2AF-545E-4C0C-80DA-483BB84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C3B4D-24B4-496D-8081-714C69FC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直接配送或轉運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58BAF-B305-4F56-BF28-054603B8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623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1ABA8-91E1-438C-A5EF-B00E271D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05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預計商品清單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92B56-400B-4F57-99AC-639A109D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6B2C3-AFF1-44C1-82A2-C3FF5FD4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司機、車輛、路線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6ECAE-A516-46C6-BEC5-67D530DD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24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EE447E-83A7-4902-9EEF-4378A7DD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672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任務狀態與異常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DC71A-C91B-453A-B0B0-4F267ABA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35433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5DE78-7D24-4DEE-88D7-471E8BC8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742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1EADC4-3F81-486B-AE69-C7E7511E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商品事件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808AD-6557-48D3-B758-9942BCC4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460E2-EB17-4292-A03C-C54C3C88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裝車、卸車、交接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4C8C3E-3AA4-4325-A5DF-15DAE5E9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623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7F45DC-0DDD-42E2-AAB0-E6BF70E7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05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送達、安裝、簽收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743CB-9FDB-43B6-B36C-CC712ED1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43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7657C-0841-4C55-8790-DD974C49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時間與任務來源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CD74A9-B5D6-406A-A675-414F2E83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24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CC8FFD-B7C0-484D-84D3-BA39850B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672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照片、簽名、異常原因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C411B5-8900-4645-8622-6D3626A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721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01B145-5B54-459F-8CBF-48CA1263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72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可稽核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451D52-3660-43B7-AA6E-7DF893FE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340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任何人掃商品 QR，都能回到同一條時間軸；可看內容則依任務與權限控制。</a:t>
            </a:r>
          </a:p>
        </p:txBody>
      </p:sp>
    </p:spTree>
    <p:extLst>
      <p:ext uri="{BB962C8B-B14F-4D97-AF65-F5344CB8AC3E}">
        <p14:creationId xmlns:p14="http://schemas.microsoft.com/office/powerpoint/2010/main" val="2883308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28D7D-28B9-4D19-8857-992E1DF7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6E85-3AB5-4BF9-97EE-7939933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開發方向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97271-C9B6-44F4-91C4-D02F6479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FE94A-2C7C-4BBA-8C64-3464062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先完成入庫可信資料，再逐步延伸配送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033E3-9274-4E29-B1FC-B202EFF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建議分階段上線，讓現場每一階段都能單獨產生價值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3CF74-7016-401C-98A6-EDE717B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110871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9525">
            <a:solidFill>
              <a:srgbClr val="0E4A3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C41AB-6DC6-4F19-BF91-9B2B6856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D7E5F-5380-4B20-ADC0-4CF7BFC0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第一階段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282B1-19B8-47E1-939D-B0FB08F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05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收貨＋生管複核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C5442-8468-4923-B9F0-6A1F335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431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商品 ID、序號掃描、標籤照片、QR 列印、型號待確認、三聯單配對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4C019-4933-4139-AE9D-BCB76155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8622B-D51D-461C-81A0-DF6913F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先解決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E3217-934E-4393-B37F-EEB70D91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110871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31A50-4E81-473E-80C6-C6E07307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C6451-3955-48B4-8976-DA68E9F6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第二階段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9A626-E879-4EC1-92D4-A661A3DB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86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LIFF 裝車＋直接配送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8C25F-9F6E-48E1-AA57-1DFA2016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242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LINE 任務、連續掃碼、裝車核對、送達照片、顧客簽名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87F68-652D-4BBE-A255-9A6EB97B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33775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AD917-10F7-49A1-A2FF-EF535175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337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再擴充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C9438-2BF2-42AE-B2BE-E8A8BFA7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871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F7865-0C6A-4DE3-B3E4-7D14B9F3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84D3B-81FC-4206-93D7-0DB16E0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第三階段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0ACE4-4CB2-442D-AF1F-42FA6050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大車轉運＋異常管理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0428D-D066-4A45-B138-F4687C4D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054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交接清單、保管責任、缺件／錯件提醒、補掃與管理端處理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8EC80-01B5-4719-9D37-18DCE7F2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149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86AB41-9853-4645-9CCB-70052D3F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14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流程完整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D5172-8B24-40EC-AF71-5B632AC3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378A2-5414-4DDF-8601-6B18ED3B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建議試辦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1861F-6919-41A0-89C4-1D40E92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3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先選 1 個倉庫、1–2 家經銷商與固定司機群，連續測試收貨、直接配送與一次轉運。</a:t>
            </a:r>
          </a:p>
        </p:txBody>
      </p:sp>
    </p:spTree>
    <p:extLst>
      <p:ext uri="{BB962C8B-B14F-4D97-AF65-F5344CB8AC3E}">
        <p14:creationId xmlns:p14="http://schemas.microsoft.com/office/powerpoint/2010/main" val="3622763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141C5-07A9-4A94-B42F-012F8FB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討論結論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3850B-D24D-46F3-9462-F3D04C4A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8747E-4CC0-47F0-8E07-E251365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我們要建立的是商品履歷，不是一次性的 OCR 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9A36C-1C5A-4408-9C39-3DE2B3AF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現場操作越簡單，系統後端越需要把資料、任務與事件關係設計清楚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31496-DDF8-4D37-8B7E-70B4E0F5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5143500" cy="1314450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3A776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25A53-F7B6-4760-83C1-6074F37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rPr>
              <a:t>收貨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9C600-68E4-4154-A41E-6299A6D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掃序號、拍標籤、貼永久 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89B0C-2460-4EF1-AF3B-9CB6ED95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143500" cy="1314450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3A776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84C8E-11DE-45C3-B872-225D5EA4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rPr>
              <a:t>生管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84E2A-7CE0-4A81-9AF3-A78E47C4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用三聯單與照片確認型號、歸屬單據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23082-0B95-4C40-AEF6-331C06A3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5143500" cy="1314450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3A776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A814D-5679-4A53-9CF8-46764E39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rPr>
              <a:t>司機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04945-949A-4A87-AC7E-3DE6BA24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LINE 點任務、掃商品、完成照片與簽收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C1F59-6F93-4763-AA60-151A7C1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5143500" cy="1314450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3A77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35F79-5650-436E-8F5F-D077DEA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rPr>
              <a:t>系統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C704A-196D-4B40-8952-C546D5F2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保存每次移動與交接，QR 不必更換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83E6D-5370-4D76-9F90-EA07B7BA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rPr>
              <a:t>下一步：確認第一階段欄位與畫面，選定試辦經銷商及倉庫現場。</a:t>
            </a:r>
          </a:p>
        </p:txBody>
      </p:sp>
    </p:spTree>
    <p:extLst>
      <p:ext uri="{BB962C8B-B14F-4D97-AF65-F5344CB8AC3E}">
        <p14:creationId xmlns:p14="http://schemas.microsoft.com/office/powerpoint/2010/main" val="732829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2026-10-04T14:34:11.3340000Z</dcterms:created>
  <dcterms:modified xsi:type="dcterms:W3CDTF">2026-10-04T14:34:11.3340000Z</dcterms:modified>
</coreProperties>
</file>