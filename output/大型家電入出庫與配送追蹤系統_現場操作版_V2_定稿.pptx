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2763e945bf4a49" /><Relationship Type="http://schemas.openxmlformats.org/officeDocument/2006/relationships/extended-properties" Target="/docProps/app.xml" Id="R037d0f9783bb41ff" /><Relationship Type="http://schemas.openxmlformats.org/officeDocument/2006/relationships/officeDocument" Target="/ppt/presentation.xml" Id="R7d2c926be20c44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f16c811e114973"/>
  </p:sldMasterIdLst>
  <p:notesMasterIdLst>
    <p:notesMasterId xmlns:r="http://schemas.openxmlformats.org/officeDocument/2006/relationships" r:id="R7d48e60758294259"/>
  </p:notesMasterIdLst>
  <p:sldIdLst>
    <p:sldId xmlns:r="http://schemas.openxmlformats.org/officeDocument/2006/relationships" id="256" r:id="Rd3044b43f38a4014"/>
    <p:sldId xmlns:r="http://schemas.openxmlformats.org/officeDocument/2006/relationships" id="257" r:id="Rd9efa58311f94aff"/>
    <p:sldId xmlns:r="http://schemas.openxmlformats.org/officeDocument/2006/relationships" id="258" r:id="R31385ea1cb384ac6"/>
    <p:sldId xmlns:r="http://schemas.openxmlformats.org/officeDocument/2006/relationships" id="259" r:id="R1a5904d14f45446f"/>
    <p:sldId xmlns:r="http://schemas.openxmlformats.org/officeDocument/2006/relationships" id="260" r:id="R35fd6c9a14bc47fa"/>
    <p:sldId xmlns:r="http://schemas.openxmlformats.org/officeDocument/2006/relationships" id="261" r:id="R27e67946eb274b60"/>
    <p:sldId xmlns:r="http://schemas.openxmlformats.org/officeDocument/2006/relationships" id="262" r:id="R8d97b91f68ca414b"/>
    <p:sldId xmlns:r="http://schemas.openxmlformats.org/officeDocument/2006/relationships" id="263" r:id="Rf610eb41f5074b62"/>
    <p:sldId xmlns:r="http://schemas.openxmlformats.org/officeDocument/2006/relationships" id="264" r:id="R2afc9e8345f44b97"/>
    <p:sldId xmlns:r="http://schemas.openxmlformats.org/officeDocument/2006/relationships" id="265" r:id="R37b35cb19c6a43c8"/>
    <p:sldId xmlns:r="http://schemas.openxmlformats.org/officeDocument/2006/relationships" id="266" r:id="Rcff02913f9114d5b"/>
    <p:sldId xmlns:r="http://schemas.openxmlformats.org/officeDocument/2006/relationships" id="267" r:id="Rc89b82de3f0c4086"/>
    <p:sldId xmlns:r="http://schemas.openxmlformats.org/officeDocument/2006/relationships" id="268" r:id="R84dd901fd7784b1e"/>
    <p:sldId xmlns:r="http://schemas.openxmlformats.org/officeDocument/2006/relationships" id="269" r:id="Re9654ad0bf6c4e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2b8bfb73b847d6" /><Relationship Type="http://schemas.openxmlformats.org/officeDocument/2006/relationships/slideMaster" Target="/ppt/slideMasters/slideMaster1.xml" Id="Rf2f16c811e114973" /><Relationship Type="http://schemas.openxmlformats.org/officeDocument/2006/relationships/notesMaster" Target="/ppt/notesMasters/notesMaster1.xml" Id="R7d48e60758294259" /><Relationship Type="http://schemas.openxmlformats.org/officeDocument/2006/relationships/presProps" Target="/ppt/presProps.xml" Id="R7f5e26773efe4e30" /><Relationship Type="http://schemas.openxmlformats.org/officeDocument/2006/relationships/tableStyles" Target="/ppt/tableStyles.xml" Id="Rb5c6c98bd4894cd4" /><Relationship Type="http://schemas.openxmlformats.org/officeDocument/2006/relationships/slide" Target="/ppt/slides/slide1.xml" Id="Rd3044b43f38a4014" /><Relationship Type="http://schemas.openxmlformats.org/officeDocument/2006/relationships/slide" Target="/ppt/slides/slide2.xml" Id="Rd9efa58311f94aff" /><Relationship Type="http://schemas.openxmlformats.org/officeDocument/2006/relationships/slide" Target="/ppt/slides/slide3.xml" Id="R31385ea1cb384ac6" /><Relationship Type="http://schemas.openxmlformats.org/officeDocument/2006/relationships/slide" Target="/ppt/slides/slide4.xml" Id="R1a5904d14f45446f" /><Relationship Type="http://schemas.openxmlformats.org/officeDocument/2006/relationships/slide" Target="/ppt/slides/slide5.xml" Id="R35fd6c9a14bc47fa" /><Relationship Type="http://schemas.openxmlformats.org/officeDocument/2006/relationships/slide" Target="/ppt/slides/slide6.xml" Id="R27e67946eb274b60" /><Relationship Type="http://schemas.openxmlformats.org/officeDocument/2006/relationships/slide" Target="/ppt/slides/slide7.xml" Id="R8d97b91f68ca414b" /><Relationship Type="http://schemas.openxmlformats.org/officeDocument/2006/relationships/slide" Target="/ppt/slides/slide8.xml" Id="Rf610eb41f5074b62" /><Relationship Type="http://schemas.openxmlformats.org/officeDocument/2006/relationships/slide" Target="/ppt/slides/slide9.xml" Id="R2afc9e8345f44b97" /><Relationship Type="http://schemas.openxmlformats.org/officeDocument/2006/relationships/slide" Target="/ppt/slides/slide10.xml" Id="R37b35cb19c6a43c8" /><Relationship Type="http://schemas.openxmlformats.org/officeDocument/2006/relationships/slide" Target="/ppt/slides/slide11.xml" Id="Rcff02913f9114d5b" /><Relationship Type="http://schemas.openxmlformats.org/officeDocument/2006/relationships/slide" Target="/ppt/slides/slide12.xml" Id="Rc89b82de3f0c4086" /><Relationship Type="http://schemas.openxmlformats.org/officeDocument/2006/relationships/slide" Target="/ppt/slides/slide13.xml" Id="R84dd901fd7784b1e" /><Relationship Type="http://schemas.openxmlformats.org/officeDocument/2006/relationships/slide" Target="/ppt/slides/slide14.xml" Id="Re9654ad0bf6c4e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c88ea61ee94e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2e9a3f90af4d5d" /><Relationship Type="http://schemas.openxmlformats.org/officeDocument/2006/relationships/notesMaster" Target="/ppt/notesMasters/notesMaster1.xml" Id="R872680adbd004c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973bb1361d47ea" /><Relationship Type="http://schemas.openxmlformats.org/officeDocument/2006/relationships/notesMaster" Target="/ppt/notesMasters/notesMaster1.xml" Id="R7509fbbac47b45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aacac0011f4b2f" /><Relationship Type="http://schemas.openxmlformats.org/officeDocument/2006/relationships/notesMaster" Target="/ppt/notesMasters/notesMaster1.xml" Id="Rd8b71d86809144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4285f063d1482c" /><Relationship Type="http://schemas.openxmlformats.org/officeDocument/2006/relationships/notesMaster" Target="/ppt/notesMasters/notesMaster1.xml" Id="R0d0c4a68bdbe46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4dfbd2fe9a43a2" /><Relationship Type="http://schemas.openxmlformats.org/officeDocument/2006/relationships/notesMaster" Target="/ppt/notesMasters/notesMaster1.xml" Id="R2bc36ebde1fa4c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00be6ad8c14902" /><Relationship Type="http://schemas.openxmlformats.org/officeDocument/2006/relationships/notesMaster" Target="/ppt/notesMasters/notesMaster1.xml" Id="R85d49f125f2947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d905cd042c4dd8" /><Relationship Type="http://schemas.openxmlformats.org/officeDocument/2006/relationships/notesMaster" Target="/ppt/notesMasters/notesMaster1.xml" Id="R66a30ed6e4c747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cba201a5864641" /><Relationship Type="http://schemas.openxmlformats.org/officeDocument/2006/relationships/notesMaster" Target="/ppt/notesMasters/notesMaster1.xml" Id="R42db94dccb6349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66d7c982d7406f" /><Relationship Type="http://schemas.openxmlformats.org/officeDocument/2006/relationships/notesMaster" Target="/ppt/notesMasters/notesMaster1.xml" Id="Rcce5094c288846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7253f3b5b7441f" /><Relationship Type="http://schemas.openxmlformats.org/officeDocument/2006/relationships/notesMaster" Target="/ppt/notesMasters/notesMaster1.xml" Id="R144417a2bb9d401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fe85b5a13424d4a" /><Relationship Type="http://schemas.openxmlformats.org/officeDocument/2006/relationships/notesMaster" Target="/ppt/notesMasters/notesMaster1.xml" Id="R73ddc74d528841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8b406da97424123" /><Relationship Type="http://schemas.openxmlformats.org/officeDocument/2006/relationships/notesMaster" Target="/ppt/notesMasters/notesMaster1.xml" Id="R08098a8cf98b4a4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fa630f3f15f4b5b" /><Relationship Type="http://schemas.openxmlformats.org/officeDocument/2006/relationships/notesMaster" Target="/ppt/notesMasters/notesMaster1.xml" Id="Rd63b5fb48f7e412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699f1f0db874100" /><Relationship Type="http://schemas.openxmlformats.org/officeDocument/2006/relationships/notesMaster" Target="/ppt/notesMasters/notesMaster1.xml" Id="Rb5b88a81248d4d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封面情境圖為 AI 生成示意。本版以實際使用者操作流程為主，不說明程式架構。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畫面為 AI 生成操作示意，實際欄位可在開發時調整。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畫面為 AI 生成操作示意。商品編號或網址由系統產生並與機器序號配對。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畫面為 AI 生成操作示意。手機相機只有一個型號辨識框，不辨識序號。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畫面為 AI 生成操作示意。生管以紙本三聯單和現場標籤照片進行人眼確認。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右側為 AI 生成直接配送情境示意。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背景為 AI 生成轉運情境示意。交接完成後，商品保管責任從大車切換到小車。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e94b976aa441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29a363fe584c10" /><Relationship Type="http://schemas.openxmlformats.org/officeDocument/2006/relationships/slideLayout" Target="/ppt/slideLayouts/slideLayout1.xml" Id="R5eae008a3f7647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ae008a3f7647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fc2de98da43c8" /><Relationship Type="http://schemas.openxmlformats.org/officeDocument/2006/relationships/image" Target="/ppt/media/image.png" Id="R0b4727accacf4043" /><Relationship Type="http://schemas.openxmlformats.org/officeDocument/2006/relationships/notesSlide" Target="/ppt/notesSlides/notesSlide1.xml" Id="R7a70be75f64c4c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af640370f4259" /><Relationship Type="http://schemas.openxmlformats.org/officeDocument/2006/relationships/notesSlide" Target="/ppt/notesSlides/notesSlide2.xml" Id="R8c345e23d3d048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5dd4788224759" /><Relationship Type="http://schemas.openxmlformats.org/officeDocument/2006/relationships/notesSlide" Target="/ppt/notesSlides/notesSlide3.xml" Id="R3a7b7d07cd8e4a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2effa1ab64179" /><Relationship Type="http://schemas.openxmlformats.org/officeDocument/2006/relationships/notesSlide" Target="/ppt/notesSlides/notesSlide4.xml" Id="R7bc1233489a746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1bbdf228b4946" /><Relationship Type="http://schemas.openxmlformats.org/officeDocument/2006/relationships/image" Target="/ppt/media/image2.png" Id="R28a1fb14c8d64265" /><Relationship Type="http://schemas.openxmlformats.org/officeDocument/2006/relationships/notesSlide" Target="/ppt/notesSlides/notesSlide5.xml" Id="Rcc5e20165bb44f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cc7e0495c4950" /><Relationship Type="http://schemas.openxmlformats.org/officeDocument/2006/relationships/image" Target="/ppt/media/image3.png" Id="R2e6f550184254f40" /><Relationship Type="http://schemas.openxmlformats.org/officeDocument/2006/relationships/notesSlide" Target="/ppt/notesSlides/notesSlide6.xml" Id="Rbf74d8615b9a49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32a2f39b84ae6" /><Relationship Type="http://schemas.openxmlformats.org/officeDocument/2006/relationships/image" Target="/ppt/media/image4.png" Id="R24f25844aa5c4138" /><Relationship Type="http://schemas.openxmlformats.org/officeDocument/2006/relationships/notesSlide" Target="/ppt/notesSlides/notesSlide7.xml" Id="R3b385a54767f4e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6dc9b27194635" /><Relationship Type="http://schemas.openxmlformats.org/officeDocument/2006/relationships/image" Target="/ppt/media/image5.png" Id="R75222a80b62342af" /><Relationship Type="http://schemas.openxmlformats.org/officeDocument/2006/relationships/notesSlide" Target="/ppt/notesSlides/notesSlide8.xml" Id="R4a054640c24045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cd83960794959" /><Relationship Type="http://schemas.openxmlformats.org/officeDocument/2006/relationships/notesSlide" Target="/ppt/notesSlides/notesSlide9.xml" Id="Rddb5a6f403c843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7883bd2d44df5" /><Relationship Type="http://schemas.openxmlformats.org/officeDocument/2006/relationships/notesSlide" Target="/ppt/notesSlides/notesSlide10.xml" Id="Rdd2b2df5f8eb413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82006c9d5498a" /><Relationship Type="http://schemas.openxmlformats.org/officeDocument/2006/relationships/image" Target="/ppt/media/image6.png" Id="Rd94886bc1cd94bcc" /><Relationship Type="http://schemas.openxmlformats.org/officeDocument/2006/relationships/notesSlide" Target="/ppt/notesSlides/notesSlide11.xml" Id="R0279fc25762a4a8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99963c17a4648" /><Relationship Type="http://schemas.openxmlformats.org/officeDocument/2006/relationships/image" Target="/ppt/media/image7.png" Id="R5b58b72520d54081" /><Relationship Type="http://schemas.openxmlformats.org/officeDocument/2006/relationships/notesSlide" Target="/ppt/notesSlides/notesSlide12.xml" Id="R071586b7fbfa449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0fbb4c79342e6" /><Relationship Type="http://schemas.openxmlformats.org/officeDocument/2006/relationships/notesSlide" Target="/ppt/notesSlides/notesSlide13.xml" Id="R25b878cec1f44d2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b0cdbe6e64c67" /><Relationship Type="http://schemas.openxmlformats.org/officeDocument/2006/relationships/notesSlide" Target="/ppt/notesSlides/notesSlide14.xml" Id="Rd29f0e92090546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4A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4727accacf4043"/>
          <a:srcRect xmlns:a="http://schemas.openxmlformats.org/drawingml/2006/main" l="21860" t="0" r="218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0"/>
            <a:ext cx="6858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E605FA-45F7-48A9-AF18-E24DC62D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A3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81FD2-1B12-428F-94A4-C8609AF1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590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大型家電進出貨</a:t>
            </a:r>
          </a:p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現場操作說明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FA0B7-01D9-4261-AEF9-8EC440A5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0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DE0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BDE0D3"/>
                </a:solidFill>
                <a:latin typeface="Microsoft JhengHei"/>
                <a:ea typeface="Microsoft JhengHei"/>
                <a:cs typeface="Microsoft JhengHei"/>
              </a:rPr>
              <a:t>從進貨批次、商品 QR 到配送簽收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D7BBE-D1B3-4D0B-BA56-08D533F2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79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687B6-AADA-4CA2-9983-4C871784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給生管、收貨人員與司機看的流程版本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BD98F-B340-4D8C-88BE-8DBBBB91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9DED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C9DED7"/>
                </a:solidFill>
                <a:latin typeface="Microsoft JhengHei"/>
                <a:ea typeface="Microsoft JhengHei"/>
                <a:cs typeface="Microsoft JhengHei"/>
              </a:rPr>
              <a:t>看得懂、做得到、知道下一步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ECD59D-C3A7-4212-A37F-433CE8A8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579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CBB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A9CBBF"/>
                </a:solidFill>
                <a:latin typeface="Microsoft JhengHei"/>
                <a:ea typeface="Microsoft JhengHei"/>
                <a:cs typeface="Microsoft JhengHei"/>
              </a:rPr>
              <a:t>V2｜2026.10</a:t>
            </a:r>
          </a:p>
        </p:txBody>
      </p:sp>
    </p:spTree>
    <p:extLst>
      <p:ext uri="{BB962C8B-B14F-4D97-AF65-F5344CB8AC3E}">
        <p14:creationId xmlns:p14="http://schemas.microsoft.com/office/powerpoint/2010/main" val="20172220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0EC2AB-D5E3-4B5F-B414-B667908B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81B89-7702-475A-B005-80C4D9BE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誰負責什麼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B8177-8343-40EC-8C42-71F8950C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73A1A7-D5C4-4E60-9F69-4272F4DD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每個人只需要完成自己那一段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D30FD-CDC6-47D8-952B-E1D78EAE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畫面會依工作角色顯示需要處理的內容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1AAE4F-ED48-4605-A712-3110C5B4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467100" cy="36766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042D34-86F3-46A7-9918-F943AE89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467100" cy="800100"/>
          </a:xfrm>
          <a:prstGeom xmlns:a="http://schemas.openxmlformats.org/drawingml/2006/main" prst="roundRect">
            <a:avLst>
              <a:gd name="adj" fmla="val 30952"/>
            </a:avLst>
          </a:prstGeom>
          <a:solidFill xmlns:a="http://schemas.openxmlformats.org/drawingml/2006/main">
            <a:srgbClr val="0E4A3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9DBDD-FE8F-4A47-9DC4-FC306C15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生管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107487-02F7-46B1-A304-DA712477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857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建立進貨批次</a:t>
            </a:r>
          </a:p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確認客戶與型號</a:t>
            </a:r>
          </a:p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建立出貨與轉運任務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FA90F6-9FF1-4040-99AF-A404B1A3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E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6F102C-137C-4EB0-A40C-2E5EB22D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辦公室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A2A185-AE6E-4A15-895B-431F6799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09750"/>
            <a:ext cx="3467100" cy="36766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F63089-594B-4BAE-9ECC-F3D75524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09750"/>
            <a:ext cx="3467100" cy="800100"/>
          </a:xfrm>
          <a:prstGeom xmlns:a="http://schemas.openxmlformats.org/drawingml/2006/main" prst="roundRect">
            <a:avLst>
              <a:gd name="adj" fmla="val 30952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AE9609-BC0D-4120-97D3-F39FBC3F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002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收貨人員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E12CE4-11AE-4F28-A9B6-3898C65D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52750"/>
            <a:ext cx="2857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掃描機器序號</a:t>
            </a:r>
          </a:p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列印並貼上商品 QR</a:t>
            </a:r>
          </a:p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拍攝型號標籤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04C455-6047-40B6-8F4A-D349F116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857750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CEB841-8849-4E25-9308-DA0C0CBE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8577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倉庫現場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5F70A5-59EF-4233-86C5-14A26F60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09750"/>
            <a:ext cx="3467100" cy="36766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DBA9B0-AAC9-446A-B7F9-CA1243A4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09750"/>
            <a:ext cx="3467100" cy="800100"/>
          </a:xfrm>
          <a:prstGeom xmlns:a="http://schemas.openxmlformats.org/drawingml/2006/main" prst="roundRect">
            <a:avLst>
              <a:gd name="adj" fmla="val 30952"/>
            </a:avLst>
          </a:prstGeom>
          <a:solidFill xmlns:a="http://schemas.openxmlformats.org/drawingml/2006/main">
            <a:srgbClr val="D8892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57C718-7B55-4362-8329-B034E4C7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002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司機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1573A8-CF80-4BA5-9FDF-1E4154A9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0"/>
            <a:ext cx="2857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從 LINE 點開任務</a:t>
            </a:r>
          </a:p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依清單掃描商品</a:t>
            </a:r>
          </a:p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完成交接或顧客簽收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73BD81-5749-4C83-BB4C-77B7B35D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E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5AA85A-CFA7-4CDB-8275-A7F6C178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配送途中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BA46EA-4A4A-4BB5-A68C-4B9D3024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原則：現場先把商品身分和照片留下來，生管再依三聯單完成確認。</a:t>
            </a:r>
          </a:p>
        </p:txBody>
      </p:sp>
    </p:spTree>
    <p:extLst>
      <p:ext uri="{BB962C8B-B14F-4D97-AF65-F5344CB8AC3E}">
        <p14:creationId xmlns:p14="http://schemas.microsoft.com/office/powerpoint/2010/main" val="5162838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4A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417AE1-016A-40DC-8235-73BC9E32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DEE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DDEEE8"/>
                </a:solidFill>
                <a:latin typeface="Microsoft JhengHei"/>
                <a:ea typeface="Microsoft JhengHei"/>
                <a:cs typeface="Microsoft JhengHei"/>
              </a:rPr>
              <a:t>一天的工作流程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9BBCD-8364-4AF4-9DC2-80D6D04A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DEE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DDEEE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918EA4-5839-4272-840E-0833F1E4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商品從進倉到送達，會經過五個階段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5F0D1C-E49D-49D2-B9DC-E0DFE2ED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DED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C9DED7"/>
                </a:solidFill>
                <a:latin typeface="Microsoft JhengHei"/>
                <a:ea typeface="Microsoft JhengHei"/>
                <a:cs typeface="Microsoft JhengHei"/>
              </a:rPr>
              <a:t>每一次掃描都留下時間，貼在商品上的 QR 不用更換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05FEA5-280A-4262-AC1F-CAB02BAB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1943100" cy="32385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95747"/>
          </a:solidFill>
          <a:ln xmlns:a="http://schemas.openxmlformats.org/drawingml/2006/main" w="9525">
            <a:solidFill>
              <a:srgbClr val="4E837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6F7A07-40EE-4F6B-BA04-AD725D9C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438150" cy="438150"/>
          </a:xfrm>
          <a:prstGeom xmlns:a="http://schemas.openxmlformats.org/drawingml/2006/main" prst="roundRect">
            <a:avLst>
              <a:gd name="adj" fmla="val 32609"/>
            </a:avLst>
          </a:prstGeom>
          <a:solidFill xmlns:a="http://schemas.openxmlformats.org/drawingml/2006/main">
            <a:srgbClr val="7DB19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52957B-8DF7-4146-871C-53224296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BD1091-4928-434F-8B04-C5DE46B3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進貨批次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96A8B1-5357-4C4C-B036-F52FB596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1562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生管先開一個批次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D860DA-CB6B-43D7-99F6-10AB5DCE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1943100" cy="32385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36D58"/>
          </a:solidFill>
          <a:ln xmlns:a="http://schemas.openxmlformats.org/drawingml/2006/main" w="9525">
            <a:solidFill>
              <a:srgbClr val="4E837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C5BBE4-6A93-4F1B-8DA3-F99612A8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90750"/>
            <a:ext cx="438150" cy="438150"/>
          </a:xfrm>
          <a:prstGeom xmlns:a="http://schemas.openxmlformats.org/drawingml/2006/main" prst="roundRect">
            <a:avLst>
              <a:gd name="adj" fmla="val 32609"/>
            </a:avLst>
          </a:prstGeom>
          <a:solidFill xmlns:a="http://schemas.openxmlformats.org/drawingml/2006/main">
            <a:srgbClr val="D8892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030B4E-2A4A-4798-AC8B-49DF38B9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907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7AB8A5-688F-4304-BE4A-14665661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5275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收貨建檔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8C8414-BEDB-4274-AF0C-A7078D4B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95700"/>
            <a:ext cx="1562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每台掃序號、貼 QR、拍標籤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2BF81C-FA75-4010-A011-8B7B8E58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81200"/>
            <a:ext cx="1943100" cy="32385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95747"/>
          </a:solidFill>
          <a:ln xmlns:a="http://schemas.openxmlformats.org/drawingml/2006/main" w="9525">
            <a:solidFill>
              <a:srgbClr val="4E837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F006F1-3C5C-4858-8683-D044C7C2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90750"/>
            <a:ext cx="438150" cy="438150"/>
          </a:xfrm>
          <a:prstGeom xmlns:a="http://schemas.openxmlformats.org/drawingml/2006/main" prst="roundRect">
            <a:avLst>
              <a:gd name="adj" fmla="val 32609"/>
            </a:avLst>
          </a:prstGeom>
          <a:solidFill xmlns:a="http://schemas.openxmlformats.org/drawingml/2006/main">
            <a:srgbClr val="7DB19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CA579E-907D-44B9-8206-20BFC3B5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907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D6D2B2-1337-4BEE-8868-67BC911E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5275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生管確認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C47988-0687-4DF2-97BC-4636B823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95700"/>
            <a:ext cx="1562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依三聯單確認客戶與型號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6BE6D8-336B-4988-B91A-06C21CE4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81200"/>
            <a:ext cx="1943100" cy="32385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95747"/>
          </a:solidFill>
          <a:ln xmlns:a="http://schemas.openxmlformats.org/drawingml/2006/main" w="9525">
            <a:solidFill>
              <a:srgbClr val="4E837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3FCB34-2023-477D-A874-80CD883B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90750"/>
            <a:ext cx="438150" cy="438150"/>
          </a:xfrm>
          <a:prstGeom xmlns:a="http://schemas.openxmlformats.org/drawingml/2006/main" prst="roundRect">
            <a:avLst>
              <a:gd name="adj" fmla="val 32609"/>
            </a:avLst>
          </a:prstGeom>
          <a:solidFill xmlns:a="http://schemas.openxmlformats.org/drawingml/2006/main">
            <a:srgbClr val="7DB19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4EA15B-C54F-4BFD-8E6D-ED7E6C6F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907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215A5A-D439-4160-B7DE-0B3CE0C4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5275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出貨配送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F0ED93-8E99-44FC-A593-CC47ECE8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95700"/>
            <a:ext cx="1562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LINE 通知司機並掃描裝車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330BDF-95C2-4562-83D4-D0854746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81200"/>
            <a:ext cx="1943100" cy="32385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95747"/>
          </a:solidFill>
          <a:ln xmlns:a="http://schemas.openxmlformats.org/drawingml/2006/main" w="9525">
            <a:solidFill>
              <a:srgbClr val="4E837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52B81A-9306-496E-ABC3-39378172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90750"/>
            <a:ext cx="438150" cy="438150"/>
          </a:xfrm>
          <a:prstGeom xmlns:a="http://schemas.openxmlformats.org/drawingml/2006/main" prst="roundRect">
            <a:avLst>
              <a:gd name="adj" fmla="val 32609"/>
            </a:avLst>
          </a:prstGeom>
          <a:solidFill xmlns:a="http://schemas.openxmlformats.org/drawingml/2006/main">
            <a:srgbClr val="7DB19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D04AD2-46F7-4BC1-AEA8-7A3B0D09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907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5078E7-7219-438D-A091-3EEBAED9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5275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送達或轉運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E865D5-D2C7-4744-B19C-5A0327E4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695700"/>
            <a:ext cx="1562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完成交接、照片與簽收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733D79-4502-4DA7-B6E2-568EE0DD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現場看 QR 找商品，系統看紀錄知道這台商品何時進倉、屬於誰、目前在哪一台車。</a:t>
            </a:r>
          </a:p>
        </p:txBody>
      </p:sp>
    </p:spTree>
    <p:extLst>
      <p:ext uri="{BB962C8B-B14F-4D97-AF65-F5344CB8AC3E}">
        <p14:creationId xmlns:p14="http://schemas.microsoft.com/office/powerpoint/2010/main" val="12910981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DCAB38-3378-4C85-A159-151E7073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4822C0-70B7-4598-9E12-25488621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進貨流程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F5720-AACF-4223-982E-3EC63106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E0F86-C48A-4EA9-AF5A-8E4DE551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一次進貨，現場按照六個步驟完成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9ADEC2-AC52-4B5B-A9A9-D05777FF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一批進貨只有一個批次號碼，每台機器各有自己的商品編號與 QR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389F3-CD90-4D40-92E2-C0835E40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53911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F1E609-393E-4415-9187-7543CE87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A6571-EF57-409C-A798-C3D88DB1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6B70E1-6FB9-4080-B7EE-72C59B7A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050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建立進貨批次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224CEA-1EE2-4FFE-B910-0BBD9236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86000"/>
            <a:ext cx="451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生管先建立本次進貨，整批共用同一個批次號碼。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7517FE-32E6-47A4-9D18-70FD8514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90700"/>
            <a:ext cx="53911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9AE839-A42A-494C-9EF4-FB44A998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6215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6CDEAB-C5B4-4F8D-8CCC-50836E97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621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B97FBD-9CDC-4FE3-9653-4D114065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050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掃描每台機器序號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39D071-98F6-490F-96A3-A30652D1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86000"/>
            <a:ext cx="451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實體條碼機讀取序號，同時產生這台商品的獨立編號。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F906F5-465A-4E5A-A605-A25F74BE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53911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59B0E2-CE90-42D2-BBB0-35392AAA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FB48CD-90FB-4E5F-8688-5FA9B778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6766BF-FE02-4888-B878-FED3A55E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575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列印並貼商品 QR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2B88F0-7815-4D36-BB1A-553380D0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38550"/>
            <a:ext cx="451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把獨立商品編號印成 QR，貼在該台機器外箱上。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37B61B-4195-44D6-A260-BE731398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43250"/>
            <a:ext cx="53911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5B1404-4F10-4F92-8031-4EBEAA1A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1470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27E0B8-48FC-49EC-B56C-5B8F9E76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14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B1EE2C-F889-44F1-908C-472AA636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575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拍攝型號標籤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75D440-A10E-4560-8F3D-C5230A43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38550"/>
            <a:ext cx="451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把機器上的型號貼紙拍清楚，供生管後續確認。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321A2E-43EB-45B4-9E3F-75FC5857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53911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7C7E14-1436-4CDD-ADAA-536910F3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1AEAD8-4C0C-472B-A210-A1A87BF5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C68A94-A659-40E9-9543-668BBF44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01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記錄三聯單末四碼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0729C7-8A2B-4221-9633-048357DD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91100"/>
            <a:ext cx="451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有需要時輸入末四碼，沒有需求可直接略過。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A12E7B-E851-4D50-9CDE-06CD04C9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95800"/>
            <a:ext cx="53911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98B0CF-D50A-42CB-8483-20755E41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6725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8892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633EF4-BD33-4969-839E-AB2D1E50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67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9AF007-D8B2-467E-8639-79A28526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101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生管完成確認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954119-FF51-4F0E-860C-A3A6F58D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91100"/>
            <a:ext cx="451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依三聯單修改正確客戶，並用照片確認商品型號。</a:t>
            </a:r>
          </a:p>
        </p:txBody>
      </p:sp>
    </p:spTree>
    <p:extLst>
      <p:ext uri="{BB962C8B-B14F-4D97-AF65-F5344CB8AC3E}">
        <p14:creationId xmlns:p14="http://schemas.microsoft.com/office/powerpoint/2010/main" val="18166268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E70175-427A-4B1F-8C1C-CC617916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E11F8-D7D5-476C-8BB3-15F78A1F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操作畫面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C0F67A-11E0-4E52-8EE7-A291C57A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156D9-5C98-4ECF-844C-3501AE22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生管先建立一個進貨批次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D2D27-6C88-4D05-A887-4FF30D91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同一批商品只開一次，現場所有機器都放在這個批次裡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a1fb14c8d64265"/>
          <a:srcRect xmlns:a="http://schemas.openxmlformats.org/drawingml/2006/main" l="0" t="2036" r="0" b="20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95450"/>
            <a:ext cx="7810500" cy="4686300"/>
          </a:xfrm>
          <a:prstGeom xmlns:a="http://schemas.openxmlformats.org/drawingml/2006/main" prst="roundRect">
            <a:avLst>
              <a:gd name="adj" fmla="val 406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A1902E-25E6-4AE3-B0A5-8A8BEA59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4785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4A3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E6E75-9099-4504-AB37-4FA32C07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478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生管操作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4F480A-08A0-4817-8FFF-0964AFC9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812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畫面只要填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8823F9-B04D-488B-80D0-2EA651A8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95600"/>
            <a:ext cx="2628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1. 進貨日期</a:t>
            </a:r>
          </a:p>
          <a:p xmlns:a="http://schemas.openxmlformats.org/drawingml/2006/main">
            <a:pPr>
              <a:defRPr sz="1425" b="1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2. 預計到貨台數</a:t>
            </a:r>
          </a:p>
          <a:p xmlns:a="http://schemas.openxmlformats.org/drawingml/2006/main">
            <a:pPr>
              <a:defRPr sz="1425" b="1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3. 必要的備註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2491AC-2068-4FF4-83F7-18619FFA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43400"/>
            <a:ext cx="26098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7E7D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4E66C4-21A0-4560-9064-68D1FA49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57700"/>
            <a:ext cx="2266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rPr>
              <a:t>建立後記下批次號碼</a:t>
            </a:r>
          </a:p>
          <a:p xmlns:a="http://schemas.openxmlformats.org/drawingml/2006/main">
            <a:pPr>
              <a:defRPr sz="1275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rPr>
              <a:t>例如 IN-20261004-001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D9EF2F-AC2D-4071-9B13-A7B4B9AC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6959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完成後，倉庫現場即可開始逐台收貨</a:t>
            </a:r>
          </a:p>
        </p:txBody>
      </p:sp>
    </p:spTree>
    <p:extLst>
      <p:ext uri="{BB962C8B-B14F-4D97-AF65-F5344CB8AC3E}">
        <p14:creationId xmlns:p14="http://schemas.microsoft.com/office/powerpoint/2010/main" val="15238527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EFA897-456D-45FB-BD31-B9C2DE43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5587A-499E-41F9-B1CE-59FBB864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操作畫面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E1B51-7517-4390-A446-C8C8EC4B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528FB-9A8E-4017-B0AC-3741B748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現場掃序號，系統替每台商品建立獨立編號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9DA67-DAB2-4F41-A5C6-128DF125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序號由實體一維條碼機輸入，不使用相機 OCR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6f550184254f40"/>
          <a:srcRect xmlns:a="http://schemas.openxmlformats.org/drawingml/2006/main" l="0" t="7647" r="0" b="76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24250" y="1657350"/>
            <a:ext cx="8096250" cy="4572000"/>
          </a:xfrm>
          <a:prstGeom xmlns:a="http://schemas.openxmlformats.org/drawingml/2006/main" prst="roundRect">
            <a:avLst>
              <a:gd name="adj" fmla="val 458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5D6DD1-5173-4D4A-8D89-A4467D0B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6479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1FD55-1D59-42A5-B2C7-5046109F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2EDEF3-A9F2-49B2-9BE5-2FCDB8F0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F6F2BA-CD8D-4ACD-BE99-8D512D07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240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掃描序號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9DA06A-9B04-407B-AAAA-FC58EE56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05050"/>
            <a:ext cx="177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條碼機讀到序號後，畫面顯示「條碼已讀取」。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70BFAF-8450-4F5F-9A4A-C9676548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05150"/>
            <a:ext cx="26479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328D38-12BB-4C6D-B06B-5CCDAE55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49E224-CFE0-4455-90FC-392A8C2C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3E1D49-7859-4331-8084-D63B9457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194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核對畫面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D6656-09BD-4C05-893E-EE82D232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00450"/>
            <a:ext cx="177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確認序號沒有重複，系統顯示這台商品的獨立編號。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A00D5A-B5BD-4880-AB5A-6520889F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26479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821A87-2400-45E5-B46E-5A7F5577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8892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A72229-254E-4ED8-8694-36A1E115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0EFB50-D987-41D2-9701-F4D0DB5F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148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列印 QR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2C7FE6-C5B4-4919-AC6D-C644510A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95850"/>
            <a:ext cx="177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按下列印，立即把 QR 貼在目前這台商品外箱。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8F0D1F-5D3D-4FD6-8238-569A5A3C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E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328043-4094-457C-AC24-18D4FD0D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貼好後再處理下一台</a:t>
            </a:r>
          </a:p>
        </p:txBody>
      </p:sp>
    </p:spTree>
    <p:extLst>
      <p:ext uri="{BB962C8B-B14F-4D97-AF65-F5344CB8AC3E}">
        <p14:creationId xmlns:p14="http://schemas.microsoft.com/office/powerpoint/2010/main" val="15790184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42BC19-96E5-4A42-B430-AD3EB6AD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2C5CF8-7C4D-44D6-848B-B1DDA921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操作畫面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AAB4B-8C16-4FC8-82B7-F11D105A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9C72B-5FCF-438E-B0EC-C57EF9E2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貼好 QR 後，拍攝機器上的型號標籤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25527E-843B-4B87-A98B-72AE531D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照片先保存，型號可以由系統提出候選值，再交給生管確認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f25844aa5c4138"/>
          <a:stretch xmlns:a="http://schemas.openxmlformats.org/drawingml/2006/main"/>
        </p:blipFill>
        <p:spPr>
          <a:xfrm xmlns:a="http://schemas.openxmlformats.org/drawingml/2006/main">
            <a:off x="1543050" y="1714500"/>
            <a:ext cx="2381250" cy="4762500"/>
          </a:xfrm>
          <a:prstGeom xmlns:a="http://schemas.openxmlformats.org/drawingml/2006/main" prst="roundRect">
            <a:avLst>
              <a:gd name="adj" fmla="val 465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F817D5-4366-4689-A304-7E3B7A5A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24050"/>
            <a:ext cx="6096000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A5522-4EC6-4C3A-83C7-7D29E9A1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574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照片要拍什麼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2452D9-9594-45B0-A35A-8B395774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419350"/>
            <a:ext cx="546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讓型號完整落在單一綠框內，字要清楚。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813ED5-8330-405A-AF35-457864F6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00400"/>
            <a:ext cx="6096000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B39107-E64C-471C-B563-3610C276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33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末四碼何時填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53E2CB-A605-4261-A71B-468EAAFC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95700"/>
            <a:ext cx="546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只有需要區分三聯單的經銷商才填寫。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555A44-9AEC-40DB-AE14-4F198A8C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76750"/>
            <a:ext cx="6096000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7E7D1"/>
          </a:solidFill>
          <a:ln xmlns:a="http://schemas.openxmlformats.org/drawingml/2006/main" w="9525">
            <a:solidFill>
              <a:srgbClr val="D8892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A4F35C-04AF-45EF-BDDC-B1943E49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6101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rPr>
              <a:t>現場不必做什麼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D2AB40-2A87-4DAB-98AB-48C02E07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972050"/>
            <a:ext cx="546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rPr>
              <a:t>不用判斷 OCR 對不對，也不用拍三聯單。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ED1F31-CBF8-4D49-9753-5AA4FEB2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924550"/>
            <a:ext cx="3867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5B7307-5AF1-47DB-8E9E-519B4D06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9245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按保存照片後，這台商品的收貨作業完成</a:t>
            </a:r>
          </a:p>
        </p:txBody>
      </p:sp>
    </p:spTree>
    <p:extLst>
      <p:ext uri="{BB962C8B-B14F-4D97-AF65-F5344CB8AC3E}">
        <p14:creationId xmlns:p14="http://schemas.microsoft.com/office/powerpoint/2010/main" val="9516801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58145E-B097-4798-A562-8D899B03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442CCB-02D9-4829-9E14-A746723D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操作畫面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FE3D9-DE4D-43EA-AC8E-331A1D95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BF7D56-C3C4-413B-A75D-05768F5F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生管依三聯單確認進貨客戶與型號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11EB2-88B4-40FC-BF87-F0358D7C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同一批商品集中處理，可快速找出尚未確認的機器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222a80b62342af"/>
          <a:srcRect xmlns:a="http://schemas.openxmlformats.org/drawingml/2006/main" l="0" t="6122" r="0" b="61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150" y="1695450"/>
            <a:ext cx="8572500" cy="4705350"/>
          </a:xfrm>
          <a:prstGeom xmlns:a="http://schemas.openxmlformats.org/drawingml/2006/main" prst="roundRect">
            <a:avLst>
              <a:gd name="adj" fmla="val 404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1C18E-727A-420C-9437-3E20ADD8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907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40AB14-6ED4-4555-8147-046AA379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526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看三聯單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717BB0-46DC-40B7-83C4-AB5239CF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1145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確認本批實際進貨客戶與商品明細。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808E40-6B48-400F-AC21-05A0FA59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384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BBFF20-0B8E-4656-827D-06DA8CE0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003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看標籤照片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375B3D-8600-4896-BE91-EAD895A2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623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依照片確認正確型號，修正系統候選值。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2FFCC3-2F72-49E8-B8CE-424A8C2E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86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2698DE-A5EF-468B-92F4-5B0B0F65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848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確認末四碼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41E9F7-1BE4-4E37-BD6D-4E5D01D6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2100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有輸入末四碼時，把商品配到正確單據。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105581-39AE-435C-BE58-332C0398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9339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423F52-395E-4F48-870C-CDF16AA1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8958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完成確認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594A5B-6B80-4EE5-B6C0-D6FF7DFF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2578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該台商品正式進入可出貨庫存。</a:t>
            </a:r>
          </a:p>
        </p:txBody>
      </p:sp>
    </p:spTree>
    <p:extLst>
      <p:ext uri="{BB962C8B-B14F-4D97-AF65-F5344CB8AC3E}">
        <p14:creationId xmlns:p14="http://schemas.microsoft.com/office/powerpoint/2010/main" val="21456788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736335-D6E1-4759-B3B7-79665312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2182C1-AABE-4912-BD9E-BBF90200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完成進貨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7A06F-1295-4819-ABC4-7795D8E7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9E9D4-611D-457D-A776-B84FFA8A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確認後，每台商品都有可查詢的進貨紀錄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D65D8-656A-4FBA-AFED-98FE79D0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日後掃外箱上的 QR，即可找到這台商品的資料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93791-C70B-49BF-BCE9-0916D17A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048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437D37-1C77-4F1F-8948-B02D893A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進貨時間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621980-ADC3-404C-96EA-B5B21723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097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哪一天、哪一個批次進倉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48227B-74BF-4511-800A-E44A26B4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7048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709468-97DD-473D-970E-E09B4221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商品身分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B648E4-A714-4D6F-A2EF-4E2E57C3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289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品牌、序號、確認後的型號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995531-3E28-425C-A0D8-4DF6B4AB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7048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6085AE-06FF-403C-AF18-E067463E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進貨歸屬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4A1A6C-7E5D-4662-8DE3-8178AA5B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480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哪一家經銷商、哪一張三聯單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FF7564-1778-4843-A703-66EE98E6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7048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7E4EB8-C57D-4FF5-9300-5654BFD5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現場證據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4A0227-BEBB-4F30-9837-59EC5EAC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672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原始型號標籤照片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F2B625-83A0-46F4-A0EB-046A1B8A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7048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42619F-B254-4229-B59A-66114809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863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目前狀態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AD13B0-4CD0-4E42-A337-C2D0F16C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863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在庫、已配車、配送中或已完成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07BBB0-42D7-4996-9321-95692C81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333750" cy="39243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E4A3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2E7ED3-36D0-4436-A13C-35AA5060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5740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705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47B7E2-78AC-4C23-B2F3-0AD99DC3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574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外箱上的 QR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F6CD32-0348-4963-89B9-79CD2266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670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不需要重新列印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D90589-A31C-47DD-861F-90281B10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33750"/>
            <a:ext cx="2533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生管完成修改後，這張 QR 仍然找到同一台商品。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7BCC79-3461-4563-B271-E1E5A9EB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86300"/>
            <a:ext cx="2533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D3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2D3A8"/>
                </a:solidFill>
                <a:latin typeface="Microsoft JhengHei"/>
                <a:ea typeface="Microsoft JhengHei"/>
                <a:cs typeface="Microsoft JhengHei"/>
              </a:rPr>
              <a:t>日後出貨、轉運、簽收，都繼續使用這張 QR。</a:t>
            </a:r>
          </a:p>
        </p:txBody>
      </p:sp>
    </p:spTree>
    <p:extLst>
      <p:ext uri="{BB962C8B-B14F-4D97-AF65-F5344CB8AC3E}">
        <p14:creationId xmlns:p14="http://schemas.microsoft.com/office/powerpoint/2010/main" val="12917378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C7CAF5-68D0-44B5-B5C1-B225A552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6001F-518C-4307-A514-08272D46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司機操作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A28E8-1CA7-4E3A-8B00-883D79C2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DEFC2-7953-4D16-959D-59E9B34A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司機收到 LINE 任務後，只做兩個主要動作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68C2E7-04C8-4603-9FFD-9925EF49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沒有任務時不會收到訊息，也不需要另外學習帳號或密碼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3510F-0D3D-4213-9172-4580480A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3486150" cy="2857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7AB65-DEAA-4670-B384-542D5C1D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628650" cy="628650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0E4A3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ADDE91-1A98-424C-BA7B-4E049F6D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80561-4049-44CD-8332-E5016C85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點開 LINE 任務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2A23BF-C6AB-46AB-A1DF-94297FC3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289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畫面已經知道今天是哪一台車、要載哪些商品。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0F2C15-EC6A-41D8-969C-C430B41D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09750"/>
            <a:ext cx="3486150" cy="2857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19745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3B8908-532E-46BE-894E-83872EDF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95500"/>
            <a:ext cx="628650" cy="628650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102D5A-BAA5-4C2C-AE73-7F50794D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955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21D85E-DFA6-4297-9BAA-BF31323D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掃描商品 QR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25716A-4865-4EB7-88B9-F6D0D0AC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57600"/>
            <a:ext cx="289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裝車、交接或送達時，依畫面逐台掃描。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A4158C-EE10-420F-8F20-37FD32BD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3486150" cy="2857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746E90-F804-4325-AF03-11F0DF98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95500"/>
            <a:ext cx="628650" cy="628650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0E4A3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716874-D36E-4DE1-8797-B1AB8259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955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完成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1ECD6C-779F-4A71-BD75-E7FF3896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480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送出結果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D27249-ECA5-4578-BC78-F2158B27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57600"/>
            <a:ext cx="289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畫面顯示缺少或拿錯的商品，確認無誤後完成。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F17FA1-B11B-4E04-9EF7-48DBD2B5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05400"/>
            <a:ext cx="11258550" cy="9906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0E4A3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C3F115-787A-470B-8112-1E83C95C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同一張商品 QR，會依目前任務判斷這次是裝車、轉運接手或顧客送達。</a:t>
            </a:r>
          </a:p>
        </p:txBody>
      </p:sp>
    </p:spTree>
    <p:extLst>
      <p:ext uri="{BB962C8B-B14F-4D97-AF65-F5344CB8AC3E}">
        <p14:creationId xmlns:p14="http://schemas.microsoft.com/office/powerpoint/2010/main" val="9130275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07050F-8531-4801-8549-27351E25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ECC04-8CA7-4018-9A6F-BD0453C1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直接配送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1D28D-CDCC-415D-8631-CE068334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35105-FBD3-4875-A03E-0DA8BDD9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直接配送：從倉庫裝車到顧客簽收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4BFBEA-42CE-454D-BCE1-F59A494B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同一位司機完成整段配送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4886bc1cd94bcc"/>
          <a:srcRect xmlns:a="http://schemas.openxmlformats.org/drawingml/2006/main" l="16070" t="0" r="160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619250"/>
            <a:ext cx="5581650" cy="4629150"/>
          </a:xfrm>
          <a:prstGeom xmlns:a="http://schemas.openxmlformats.org/drawingml/2006/main" prst="roundRect">
            <a:avLst>
              <a:gd name="adj" fmla="val 452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15E639-42E1-432A-8D35-F71B1967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51435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E1C2C0-8674-4566-8A74-8F547E98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6E2127-1DE9-40FF-B91C-D4A67448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6B6D54-32D7-4CBE-996D-F231DD20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8478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生管傳送 LINE 任務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5E6258-99B0-4896-B6CB-AF0E2A4F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28850"/>
            <a:ext cx="426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任務已列出司機、車輛與本次應載商品。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CBC9A6-8A09-40DA-B3AB-6F9DB310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51435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81B6FB-3A61-4016-8378-9A490BD3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9B906F-C582-4CA8-8E33-493BF05F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F44EED-86FE-4E92-BCF9-8D36C097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194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倉庫裝車逐台掃描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026D7F-6665-4468-86A8-3B2E9E8E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00450"/>
            <a:ext cx="426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商品掃描正確才算裝車完成，避免拿錯客戶商品。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922664-3C73-4C22-A3F4-4384A014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51435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F73DC9-8D5D-484F-87D2-2B9F9292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8892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ADC175-9C3B-4621-AC0B-B7D45383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5BD12E-A74E-41C6-9A0A-94751B9B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910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送達後拍照與簽收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30DEFA-8B04-4D00-BF83-FB016F2E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426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再掃商品 QR，拍 2–3 張安裝照片並請顧客簽名。</a:t>
            </a:r>
          </a:p>
        </p:txBody>
      </p:sp>
    </p:spTree>
    <p:extLst>
      <p:ext uri="{BB962C8B-B14F-4D97-AF65-F5344CB8AC3E}">
        <p14:creationId xmlns:p14="http://schemas.microsoft.com/office/powerpoint/2010/main" val="556648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8FA3B4-11DA-46F5-A027-934F3124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7FBD05-6435-4C28-AE2C-2F13498F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大車轉運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00B95-F47F-4879-AA90-84EC4E61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8AD459-ED4F-40E8-AEC5-3CF0B233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大車轉小車：接手的小車司機負責掃描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D4F9E-D141-4C2E-A135-B36E41B9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系統比對交接清單，不要求兩位司機共同逐台操作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58b72520d54081"/>
          <a:srcRect xmlns:a="http://schemas.openxmlformats.org/drawingml/2006/main" l="0" t="11826" r="0" b="11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619250"/>
            <a:ext cx="12192000" cy="5238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80D86B-DDE9-4BA7-A658-04562EBC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19250"/>
            <a:ext cx="5429250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A3C">
              <a:alpha val="92157"/>
            </a:srgbClr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C7AC0-2BCB-4729-B6DA-B60DC906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57400"/>
            <a:ext cx="45720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2A99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7F855B-BDD5-4A5D-94C8-743C9AA3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57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27986A-128C-4D35-A53C-F04FE284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19300"/>
            <a:ext cx="3790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大車從倉庫裝貨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5A7F-29CE-4534-8B5B-E7B4C8C7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38400"/>
            <a:ext cx="3790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裝車時先掃描，商品歸在大車車次。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E5F9F-F1A5-46ED-8CDC-E5E670DC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90900"/>
            <a:ext cx="45720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2A99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66692C-4F80-4E61-98DB-950D78E6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909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2D4524-0A61-4309-8FB7-CBF45620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52800"/>
            <a:ext cx="3790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生管建立轉運任務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8B0849-B6D6-492B-AEC4-D44AAE6B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3790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任務列出要轉給哪一台小車、共有哪些商品。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47D93E-B661-4F5D-8DA1-7DBF451D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724400"/>
            <a:ext cx="45720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8892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AEE08B-31E0-4D35-A00C-DDB670A8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724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FD5FEE-3943-40A5-9CB0-0DF923B7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86300"/>
            <a:ext cx="3790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小車司機掃描接手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1EEE69-1187-4290-BADB-961A79A6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3790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小車司機逐台掃描，正確後完成交接。</a:t>
            </a:r>
          </a:p>
        </p:txBody>
      </p:sp>
    </p:spTree>
    <p:extLst>
      <p:ext uri="{BB962C8B-B14F-4D97-AF65-F5344CB8AC3E}">
        <p14:creationId xmlns:p14="http://schemas.microsoft.com/office/powerpoint/2010/main" val="5201221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CBAFD7-2081-4C8C-85A8-DD89F6F3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885EE-7F21-45FC-9681-39B357A8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遇到異常時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EA204-63D4-474A-86AF-E33B12C1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222C94-5A33-41F9-9906-32DF038C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畫面要直接告訴使用者哪裡不對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4C2243-F549-4A4B-A9ED-B39D501A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現場不需要猜原因，依提示處理即可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6BFB38-502F-4616-8B6F-502767EA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5295900" cy="1504950"/>
          </a:xfrm>
          <a:prstGeom xmlns:a="http://schemas.openxmlformats.org/drawingml/2006/main" prst="roundRect">
            <a:avLst>
              <a:gd name="adj" fmla="val 139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0D9FEE-485E-4A77-8A9F-A63E2B38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11430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892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08BB32-4DE1-47EE-B251-C71E799F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序號已存在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217F9A-43AF-495E-BBC8-C928A16E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停止建立，請生管確認是否重複收貨。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9DF320-3B11-4DE7-BA9F-31C6CEF2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09750"/>
            <a:ext cx="5295900" cy="1504950"/>
          </a:xfrm>
          <a:prstGeom xmlns:a="http://schemas.openxmlformats.org/drawingml/2006/main" prst="roundRect">
            <a:avLst>
              <a:gd name="adj" fmla="val 139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296EAB-F0CD-4AB3-9A2D-14266D0F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11430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892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3A7252-0E48-41D0-9E0A-C14EFD5F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002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掃到不在清單的商品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5B25CF-BF0A-4C8E-902C-E13FD0A5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9555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畫面顯示錯誤，不列入本次裝車或交接。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E7D7FD-B2AC-4ED6-9B53-629A2EC9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57600"/>
            <a:ext cx="5295900" cy="1504950"/>
          </a:xfrm>
          <a:prstGeom xmlns:a="http://schemas.openxmlformats.org/drawingml/2006/main" prst="roundRect">
            <a:avLst>
              <a:gd name="adj" fmla="val 139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BF31BF-2DDB-4BAF-A460-C72DA65E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11430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B688D7-BE90-49D7-A76C-32928EC9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481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應載商品沒有掃到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7F972A-A850-4DEF-B152-5F94F1D9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4340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完成前顯示缺少項目，回頭確認商品是否漏裝。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4E54D3-6DF6-49F1-BF8B-C7979688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57600"/>
            <a:ext cx="5295900" cy="1504950"/>
          </a:xfrm>
          <a:prstGeom xmlns:a="http://schemas.openxmlformats.org/drawingml/2006/main" prst="roundRect">
            <a:avLst>
              <a:gd name="adj" fmla="val 139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3D6BAA-912B-4961-AC5A-1321CAA0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24300"/>
            <a:ext cx="11430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FD1EB3-4D10-4369-9E79-0381A7CB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481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照片看不清楚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3B6599-5E3B-4F5E-9713-65007EB7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4340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生管退回待補拍，商品資料保留不會消失。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887350-A3D4-4BF0-8856-7443B464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0972800" cy="5143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DEEE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1A0A88-433F-4A1B-91FB-BD75F807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1051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異常資料交給生管處理，司機與收貨人員只要依畫面指示完成現場動作。</a:t>
            </a:r>
          </a:p>
        </p:txBody>
      </p:sp>
    </p:spTree>
    <p:extLst>
      <p:ext uri="{BB962C8B-B14F-4D97-AF65-F5344CB8AC3E}">
        <p14:creationId xmlns:p14="http://schemas.microsoft.com/office/powerpoint/2010/main" val="19827747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E4A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A11921-FB18-45D1-8330-CE166687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DEE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DDEEE8"/>
                </a:solidFill>
                <a:latin typeface="Microsoft JhengHei"/>
                <a:ea typeface="Microsoft JhengHei"/>
                <a:cs typeface="Microsoft JhengHei"/>
              </a:rPr>
              <a:t>預計開發順序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C5DCEF-5510-4349-97F5-4CBE7C04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DEE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DDEEE8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86BC4-98F9-43BE-9BCB-D974222E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先讓進貨流程順利運作，再延伸到配送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F3E2A2-CAAD-4284-8BB8-57E9B9CF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DED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C9DED7"/>
                </a:solidFill>
                <a:latin typeface="Microsoft JhengHei"/>
                <a:ea typeface="Microsoft JhengHei"/>
                <a:cs typeface="Microsoft JhengHei"/>
              </a:rPr>
              <a:t>每一階段先由少量人員試用，確認現場操作真的方便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526EC3-F19A-4EE7-9581-344EDFB8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10858500" cy="9144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36D58"/>
          </a:solidFill>
          <a:ln xmlns:a="http://schemas.openxmlformats.org/drawingml/2006/main" w="9525">
            <a:solidFill>
              <a:srgbClr val="4E837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3505C6-0E54-4318-95B3-CA6EC712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892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4F7F4-5810-45CE-9F2C-0AC754A0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第一階段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6C0CC-1641-4B41-9A6B-F07559CF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764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進貨批次、序號掃描、QR 列印、拍照、生管確認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44B6A7-F0C3-43E2-85CD-13FDD32B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0858500" cy="9144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195747"/>
          </a:solidFill>
          <a:ln xmlns:a="http://schemas.openxmlformats.org/drawingml/2006/main" w="9525">
            <a:solidFill>
              <a:srgbClr val="4E837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41C96C-68A5-46A7-B1A0-6E3C9741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705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E1335-FB99-4C13-9849-E892DF94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第二階段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B782BF-A2D7-45D4-AEC2-741A1F55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575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LINE 裝車任務、直接配送、照片與顧客簽收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0C64AD-3A5D-4477-9D97-925A25FE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10858500" cy="9144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195747"/>
          </a:solidFill>
          <a:ln xmlns:a="http://schemas.openxmlformats.org/drawingml/2006/main" w="9525">
            <a:solidFill>
              <a:srgbClr val="4E837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9A0510-83C6-4091-B577-41AA8A2A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14850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705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587AA4-C9A9-4E1F-A9EE-B298EC7A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148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第三階段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BCB347-B176-4763-BCF6-3E3AEEAA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大車轉小車、交接清單、缺件與錯件處理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EE380A-127A-4E34-BA2A-9B1E5F9C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CC5B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8CC5B1"/>
                </a:solidFill>
                <a:latin typeface="Microsoft JhengHei"/>
                <a:ea typeface="Microsoft JhengHei"/>
                <a:cs typeface="Microsoft JhengHei"/>
              </a:rPr>
              <a:t>建議試辦方式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AAFCFB-46B8-4648-8CB3-358B92B2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52450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先選一個倉庫、一至兩家經銷商與固定司機，實際走完一批進貨、一次直接配送及一次轉運。</a:t>
            </a:r>
          </a:p>
        </p:txBody>
      </p:sp>
    </p:spTree>
    <p:extLst>
      <p:ext uri="{BB962C8B-B14F-4D97-AF65-F5344CB8AC3E}">
        <p14:creationId xmlns:p14="http://schemas.microsoft.com/office/powerpoint/2010/main" val="12329718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2026-10-04T15:11:39.7190000Z</dcterms:created>
  <dcterms:modified xsi:type="dcterms:W3CDTF">2026-10-04T15:11:39.7190000Z</dcterms:modified>
</coreProperties>
</file>